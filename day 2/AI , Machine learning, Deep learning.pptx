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Anantason UltraExpanded Bold" charset="1" panose="00000000000000000000"/>
      <p:regular r:id="rId18"/>
    </p:embeddedFont>
    <p:embeddedFont>
      <p:font typeface="Anantason UltraExpanded" charset="1" panose="00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1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1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670656" y="1382740"/>
            <a:ext cx="15588644" cy="7521521"/>
          </a:xfrm>
          <a:custGeom>
            <a:avLst/>
            <a:gdLst/>
            <a:ahLst/>
            <a:cxnLst/>
            <a:rect r="r" b="b" t="t" l="l"/>
            <a:pathLst>
              <a:path h="7521521" w="15588644">
                <a:moveTo>
                  <a:pt x="0" y="0"/>
                </a:moveTo>
                <a:lnTo>
                  <a:pt x="15588644" y="0"/>
                </a:lnTo>
                <a:lnTo>
                  <a:pt x="15588644" y="7521520"/>
                </a:lnTo>
                <a:lnTo>
                  <a:pt x="0" y="7521520"/>
                </a:lnTo>
                <a:lnTo>
                  <a:pt x="0" y="0"/>
                </a:lnTo>
                <a:close/>
              </a:path>
            </a:pathLst>
          </a:custGeom>
          <a:blipFill>
            <a:blip r:embed="rId3"/>
            <a:stretch>
              <a:fillRect l="0" t="0" r="0" b="0"/>
            </a:stretch>
          </a:blipFill>
        </p:spPr>
      </p:sp>
      <p:sp>
        <p:nvSpPr>
          <p:cNvPr name="Freeform 4" id="4"/>
          <p:cNvSpPr/>
          <p:nvPr/>
        </p:nvSpPr>
        <p:spPr>
          <a:xfrm flipH="false" flipV="false" rot="0">
            <a:off x="0" y="2285087"/>
            <a:ext cx="6551567" cy="8001913"/>
          </a:xfrm>
          <a:custGeom>
            <a:avLst/>
            <a:gdLst/>
            <a:ahLst/>
            <a:cxnLst/>
            <a:rect r="r" b="b" t="t" l="l"/>
            <a:pathLst>
              <a:path h="8001913" w="6551567">
                <a:moveTo>
                  <a:pt x="0" y="0"/>
                </a:moveTo>
                <a:lnTo>
                  <a:pt x="6551567" y="0"/>
                </a:lnTo>
                <a:lnTo>
                  <a:pt x="6551567" y="8001913"/>
                </a:lnTo>
                <a:lnTo>
                  <a:pt x="0" y="8001913"/>
                </a:lnTo>
                <a:lnTo>
                  <a:pt x="0" y="0"/>
                </a:lnTo>
                <a:close/>
              </a:path>
            </a:pathLst>
          </a:custGeom>
          <a:blipFill>
            <a:blip r:embed="rId4"/>
            <a:stretch>
              <a:fillRect l="0" t="0" r="0" b="0"/>
            </a:stretch>
          </a:blipFill>
        </p:spPr>
      </p:sp>
      <p:sp>
        <p:nvSpPr>
          <p:cNvPr name="TextBox 5" id="5"/>
          <p:cNvSpPr txBox="true"/>
          <p:nvPr/>
        </p:nvSpPr>
        <p:spPr>
          <a:xfrm rot="0">
            <a:off x="5455767" y="2908235"/>
            <a:ext cx="11054063" cy="3954678"/>
          </a:xfrm>
          <a:prstGeom prst="rect">
            <a:avLst/>
          </a:prstGeom>
        </p:spPr>
        <p:txBody>
          <a:bodyPr anchor="t" rtlCol="false" tIns="0" lIns="0" bIns="0" rIns="0">
            <a:spAutoFit/>
          </a:bodyPr>
          <a:lstStyle/>
          <a:p>
            <a:pPr algn="ctr">
              <a:lnSpc>
                <a:spcPts val="7777"/>
              </a:lnSpc>
            </a:pPr>
            <a:r>
              <a:rPr lang="en-US" b="true" sz="7337">
                <a:solidFill>
                  <a:srgbClr val="8EBFF5"/>
                </a:solidFill>
                <a:latin typeface="Anantason UltraExpanded Bold"/>
                <a:ea typeface="Anantason UltraExpanded Bold"/>
                <a:cs typeface="Anantason UltraExpanded Bold"/>
                <a:sym typeface="Anantason UltraExpanded Bold"/>
              </a:rPr>
              <a:t>INTELLIGENCE ARTIFICIELLE ET MACHINE LEARNING</a:t>
            </a:r>
          </a:p>
        </p:txBody>
      </p:sp>
      <p:sp>
        <p:nvSpPr>
          <p:cNvPr name="TextBox 6" id="6"/>
          <p:cNvSpPr txBox="true"/>
          <p:nvPr/>
        </p:nvSpPr>
        <p:spPr>
          <a:xfrm rot="0">
            <a:off x="7603018" y="7022163"/>
            <a:ext cx="6759561" cy="461377"/>
          </a:xfrm>
          <a:prstGeom prst="rect">
            <a:avLst/>
          </a:prstGeom>
        </p:spPr>
        <p:txBody>
          <a:bodyPr anchor="t" rtlCol="false" tIns="0" lIns="0" bIns="0" rIns="0">
            <a:spAutoFit/>
          </a:bodyPr>
          <a:lstStyle/>
          <a:p>
            <a:pPr algn="ctr">
              <a:lnSpc>
                <a:spcPts val="3881"/>
              </a:lnSpc>
            </a:pPr>
            <a:r>
              <a:rPr lang="en-US" sz="2772">
                <a:solidFill>
                  <a:srgbClr val="FFFFFF"/>
                </a:solidFill>
                <a:latin typeface="Anantason UltraExpanded"/>
                <a:ea typeface="Anantason UltraExpanded"/>
                <a:cs typeface="Anantason UltraExpanded"/>
                <a:sym typeface="Anantason UltraExpanded"/>
              </a:rPr>
              <a:t>Ayachi Med Aziz </a:t>
            </a:r>
          </a:p>
        </p:txBody>
      </p:sp>
      <p:sp>
        <p:nvSpPr>
          <p:cNvPr name="Freeform 7" id="7"/>
          <p:cNvSpPr/>
          <p:nvPr/>
        </p:nvSpPr>
        <p:spPr>
          <a:xfrm flipH="false" flipV="false" rot="0">
            <a:off x="15201900" y="-67466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4362579" y="6099601"/>
            <a:ext cx="2147251" cy="2147251"/>
          </a:xfrm>
          <a:custGeom>
            <a:avLst/>
            <a:gdLst/>
            <a:ahLst/>
            <a:cxnLst/>
            <a:rect r="r" b="b" t="t" l="l"/>
            <a:pathLst>
              <a:path h="2147251" w="2147251">
                <a:moveTo>
                  <a:pt x="0" y="0"/>
                </a:moveTo>
                <a:lnTo>
                  <a:pt x="2147251" y="0"/>
                </a:lnTo>
                <a:lnTo>
                  <a:pt x="2147251" y="2147251"/>
                </a:lnTo>
                <a:lnTo>
                  <a:pt x="0" y="21472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028700" y="1227868"/>
            <a:ext cx="16230600" cy="7831265"/>
          </a:xfrm>
          <a:custGeom>
            <a:avLst/>
            <a:gdLst/>
            <a:ahLst/>
            <a:cxnLst/>
            <a:rect r="r" b="b" t="t" l="l"/>
            <a:pathLst>
              <a:path h="7831265" w="16230600">
                <a:moveTo>
                  <a:pt x="0" y="0"/>
                </a:moveTo>
                <a:lnTo>
                  <a:pt x="16230600" y="0"/>
                </a:lnTo>
                <a:lnTo>
                  <a:pt x="16230600" y="7831264"/>
                </a:lnTo>
                <a:lnTo>
                  <a:pt x="0" y="7831264"/>
                </a:lnTo>
                <a:lnTo>
                  <a:pt x="0" y="0"/>
                </a:lnTo>
                <a:close/>
              </a:path>
            </a:pathLst>
          </a:custGeom>
          <a:blipFill>
            <a:blip r:embed="rId3"/>
            <a:stretch>
              <a:fillRect l="0" t="0" r="0" b="0"/>
            </a:stretch>
          </a:blipFill>
        </p:spPr>
      </p:sp>
      <p:sp>
        <p:nvSpPr>
          <p:cNvPr name="Freeform 4" id="4"/>
          <p:cNvSpPr/>
          <p:nvPr/>
        </p:nvSpPr>
        <p:spPr>
          <a:xfrm flipH="true" flipV="false" rot="0">
            <a:off x="12493783" y="1859992"/>
            <a:ext cx="5431900" cy="11257824"/>
          </a:xfrm>
          <a:custGeom>
            <a:avLst/>
            <a:gdLst/>
            <a:ahLst/>
            <a:cxnLst/>
            <a:rect r="r" b="b" t="t" l="l"/>
            <a:pathLst>
              <a:path h="11257824" w="5431900">
                <a:moveTo>
                  <a:pt x="5431900" y="0"/>
                </a:moveTo>
                <a:lnTo>
                  <a:pt x="0" y="0"/>
                </a:lnTo>
                <a:lnTo>
                  <a:pt x="0" y="11257823"/>
                </a:lnTo>
                <a:lnTo>
                  <a:pt x="5431900" y="11257823"/>
                </a:lnTo>
                <a:lnTo>
                  <a:pt x="5431900" y="0"/>
                </a:lnTo>
                <a:close/>
              </a:path>
            </a:pathLst>
          </a:custGeom>
          <a:blipFill>
            <a:blip r:embed="rId4"/>
            <a:stretch>
              <a:fillRect l="0" t="0" r="0" b="0"/>
            </a:stretch>
          </a:blipFill>
        </p:spPr>
      </p:sp>
      <p:sp>
        <p:nvSpPr>
          <p:cNvPr name="Freeform 5" id="5"/>
          <p:cNvSpPr/>
          <p:nvPr/>
        </p:nvSpPr>
        <p:spPr>
          <a:xfrm flipH="false" flipV="false" rot="0">
            <a:off x="11917506" y="667200"/>
            <a:ext cx="3292227" cy="3268283"/>
          </a:xfrm>
          <a:custGeom>
            <a:avLst/>
            <a:gdLst/>
            <a:ahLst/>
            <a:cxnLst/>
            <a:rect r="r" b="b" t="t" l="l"/>
            <a:pathLst>
              <a:path h="3268283" w="3292227">
                <a:moveTo>
                  <a:pt x="0" y="0"/>
                </a:moveTo>
                <a:lnTo>
                  <a:pt x="3292227" y="0"/>
                </a:lnTo>
                <a:lnTo>
                  <a:pt x="3292227" y="3268283"/>
                </a:lnTo>
                <a:lnTo>
                  <a:pt x="0" y="326828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870655" y="1964767"/>
            <a:ext cx="11428213" cy="1142024"/>
          </a:xfrm>
          <a:prstGeom prst="rect">
            <a:avLst/>
          </a:prstGeom>
        </p:spPr>
        <p:txBody>
          <a:bodyPr anchor="t" rtlCol="false" tIns="0" lIns="0" bIns="0" rIns="0">
            <a:spAutoFit/>
          </a:bodyPr>
          <a:lstStyle/>
          <a:p>
            <a:pPr algn="l">
              <a:lnSpc>
                <a:spcPts val="8724"/>
              </a:lnSpc>
            </a:pPr>
            <a:r>
              <a:rPr lang="en-US" b="true" sz="8230">
                <a:solidFill>
                  <a:srgbClr val="8EBFF5"/>
                </a:solidFill>
                <a:latin typeface="Anantason UltraExpanded Bold"/>
                <a:ea typeface="Anantason UltraExpanded Bold"/>
                <a:cs typeface="Anantason UltraExpanded Bold"/>
                <a:sym typeface="Anantason UltraExpanded Bold"/>
              </a:rPr>
              <a:t>SOMMAIRE :</a:t>
            </a:r>
          </a:p>
        </p:txBody>
      </p:sp>
      <p:sp>
        <p:nvSpPr>
          <p:cNvPr name="TextBox 7" id="7"/>
          <p:cNvSpPr txBox="true"/>
          <p:nvPr/>
        </p:nvSpPr>
        <p:spPr>
          <a:xfrm rot="0">
            <a:off x="1870655" y="3457249"/>
            <a:ext cx="9894698" cy="3753417"/>
          </a:xfrm>
          <a:prstGeom prst="rect">
            <a:avLst/>
          </a:prstGeom>
        </p:spPr>
        <p:txBody>
          <a:bodyPr anchor="t" rtlCol="false" tIns="0" lIns="0" bIns="0" rIns="0">
            <a:spAutoFit/>
          </a:bodyPr>
          <a:lstStyle/>
          <a:p>
            <a:pPr algn="just" marL="435912" indent="-217956" lvl="1">
              <a:lnSpc>
                <a:spcPts val="2321"/>
              </a:lnSpc>
              <a:buAutoNum type="arabicPeriod" startAt="1"/>
            </a:pPr>
            <a:r>
              <a:rPr lang="en-US" sz="2019">
                <a:solidFill>
                  <a:srgbClr val="FFFFFF"/>
                </a:solidFill>
                <a:latin typeface="Anantason UltraExpanded"/>
                <a:ea typeface="Anantason UltraExpanded"/>
                <a:cs typeface="Anantason UltraExpanded"/>
                <a:sym typeface="Anantason UltraExpanded"/>
              </a:rPr>
              <a:t> Qu’est ce que l’intelligence artificielle (AI)</a:t>
            </a:r>
          </a:p>
          <a:p>
            <a:pPr algn="just">
              <a:lnSpc>
                <a:spcPts val="2321"/>
              </a:lnSpc>
            </a:pPr>
          </a:p>
          <a:p>
            <a:pPr algn="just">
              <a:lnSpc>
                <a:spcPts val="2321"/>
              </a:lnSpc>
            </a:pPr>
            <a:r>
              <a:rPr lang="en-US" sz="2019">
                <a:solidFill>
                  <a:srgbClr val="FFFFFF"/>
                </a:solidFill>
                <a:latin typeface="Anantason UltraExpanded"/>
                <a:ea typeface="Anantason UltraExpanded"/>
                <a:cs typeface="Anantason UltraExpanded"/>
                <a:sym typeface="Anantason UltraExpanded"/>
              </a:rPr>
              <a:t>   2. </a:t>
            </a:r>
            <a:r>
              <a:rPr lang="en-US" sz="2019">
                <a:solidFill>
                  <a:srgbClr val="FFFFFF"/>
                </a:solidFill>
                <a:latin typeface="Anantason UltraExpanded"/>
                <a:ea typeface="Anantason UltraExpanded"/>
                <a:cs typeface="Anantason UltraExpanded"/>
                <a:sym typeface="Anantason UltraExpanded"/>
              </a:rPr>
              <a:t>Machine learning (ML) - coeur de l’AI</a:t>
            </a:r>
          </a:p>
          <a:p>
            <a:pPr algn="just">
              <a:lnSpc>
                <a:spcPts val="2321"/>
              </a:lnSpc>
            </a:pPr>
            <a:r>
              <a:rPr lang="en-US" sz="2019">
                <a:solidFill>
                  <a:srgbClr val="FFFFFF"/>
                </a:solidFill>
                <a:latin typeface="Anantason UltraExpanded"/>
                <a:ea typeface="Anantason UltraExpanded"/>
                <a:cs typeface="Anantason UltraExpanded"/>
                <a:sym typeface="Anantason UltraExpanded"/>
              </a:rPr>
              <a:t>   2.1. Definition</a:t>
            </a:r>
          </a:p>
          <a:p>
            <a:pPr algn="just">
              <a:lnSpc>
                <a:spcPts val="2321"/>
              </a:lnSpc>
            </a:pPr>
            <a:r>
              <a:rPr lang="en-US" sz="2019">
                <a:solidFill>
                  <a:srgbClr val="FFFFFF"/>
                </a:solidFill>
                <a:latin typeface="Anantason UltraExpanded"/>
                <a:ea typeface="Anantason UltraExpanded"/>
                <a:cs typeface="Anantason UltraExpanded"/>
                <a:sym typeface="Anantason UltraExpanded"/>
              </a:rPr>
              <a:t>   2.2 Principaux types d’apprentissage</a:t>
            </a:r>
          </a:p>
          <a:p>
            <a:pPr algn="just">
              <a:lnSpc>
                <a:spcPts val="2321"/>
              </a:lnSpc>
            </a:pPr>
          </a:p>
          <a:p>
            <a:pPr algn="just">
              <a:lnSpc>
                <a:spcPts val="2321"/>
              </a:lnSpc>
            </a:pPr>
            <a:r>
              <a:rPr lang="en-US" sz="2019">
                <a:solidFill>
                  <a:srgbClr val="FFFFFF"/>
                </a:solidFill>
                <a:latin typeface="Anantason UltraExpanded"/>
                <a:ea typeface="Anantason UltraExpanded"/>
                <a:cs typeface="Anantason UltraExpanded"/>
                <a:sym typeface="Anantason UltraExpanded"/>
              </a:rPr>
              <a:t>   3. Deep Learning (DL) - Sous catégorie avancée de ML</a:t>
            </a:r>
          </a:p>
          <a:p>
            <a:pPr algn="just">
              <a:lnSpc>
                <a:spcPts val="2321"/>
              </a:lnSpc>
            </a:pPr>
          </a:p>
          <a:p>
            <a:pPr algn="just">
              <a:lnSpc>
                <a:spcPts val="2321"/>
              </a:lnSpc>
            </a:pPr>
            <a:r>
              <a:rPr lang="en-US" sz="2019">
                <a:solidFill>
                  <a:srgbClr val="FFFFFF"/>
                </a:solidFill>
                <a:latin typeface="Anantason UltraExpanded"/>
                <a:ea typeface="Anantason UltraExpanded"/>
                <a:cs typeface="Anantason UltraExpanded"/>
                <a:sym typeface="Anantason UltraExpanded"/>
              </a:rPr>
              <a:t>   4. Techniques complémentaires et tendances</a:t>
            </a:r>
          </a:p>
          <a:p>
            <a:pPr algn="just">
              <a:lnSpc>
                <a:spcPts val="2321"/>
              </a:lnSpc>
            </a:pPr>
          </a:p>
          <a:p>
            <a:pPr algn="just">
              <a:lnSpc>
                <a:spcPts val="2321"/>
              </a:lnSpc>
            </a:pPr>
            <a:r>
              <a:rPr lang="en-US" sz="2019">
                <a:solidFill>
                  <a:srgbClr val="FFFFFF"/>
                </a:solidFill>
                <a:latin typeface="Anantason UltraExpanded"/>
                <a:ea typeface="Anantason UltraExpanded"/>
                <a:cs typeface="Anantason UltraExpanded"/>
                <a:sym typeface="Anantason UltraExpanded"/>
              </a:rPr>
              <a:t>   5. Enjeux et défis majeurs </a:t>
            </a:r>
          </a:p>
          <a:p>
            <a:pPr algn="just">
              <a:lnSpc>
                <a:spcPts val="2321"/>
              </a:lnSpc>
            </a:pPr>
          </a:p>
          <a:p>
            <a:pPr algn="just">
              <a:lnSpc>
                <a:spcPts val="2321"/>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028700" y="1227868"/>
            <a:ext cx="16230600" cy="7831265"/>
          </a:xfrm>
          <a:custGeom>
            <a:avLst/>
            <a:gdLst/>
            <a:ahLst/>
            <a:cxnLst/>
            <a:rect r="r" b="b" t="t" l="l"/>
            <a:pathLst>
              <a:path h="7831265" w="16230600">
                <a:moveTo>
                  <a:pt x="0" y="0"/>
                </a:moveTo>
                <a:lnTo>
                  <a:pt x="16230600" y="0"/>
                </a:lnTo>
                <a:lnTo>
                  <a:pt x="16230600" y="7831264"/>
                </a:lnTo>
                <a:lnTo>
                  <a:pt x="0" y="7831264"/>
                </a:lnTo>
                <a:lnTo>
                  <a:pt x="0" y="0"/>
                </a:lnTo>
                <a:close/>
              </a:path>
            </a:pathLst>
          </a:custGeom>
          <a:blipFill>
            <a:blip r:embed="rId3"/>
            <a:stretch>
              <a:fillRect l="0" t="0" r="0" b="0"/>
            </a:stretch>
          </a:blipFill>
        </p:spPr>
      </p:sp>
      <p:sp>
        <p:nvSpPr>
          <p:cNvPr name="TextBox 4" id="4"/>
          <p:cNvSpPr txBox="true"/>
          <p:nvPr/>
        </p:nvSpPr>
        <p:spPr>
          <a:xfrm rot="0">
            <a:off x="837466" y="1470358"/>
            <a:ext cx="10420982" cy="3673142"/>
          </a:xfrm>
          <a:prstGeom prst="rect">
            <a:avLst/>
          </a:prstGeom>
        </p:spPr>
        <p:txBody>
          <a:bodyPr anchor="t" rtlCol="false" tIns="0" lIns="0" bIns="0" rIns="0">
            <a:spAutoFit/>
          </a:bodyPr>
          <a:lstStyle/>
          <a:p>
            <a:pPr algn="l" marL="1468558" indent="-734279" lvl="1">
              <a:lnSpc>
                <a:spcPts val="7210"/>
              </a:lnSpc>
              <a:buAutoNum type="arabicPeriod" startAt="1"/>
            </a:pPr>
            <a:r>
              <a:rPr lang="en-US" b="true" sz="6802">
                <a:solidFill>
                  <a:srgbClr val="8EBFF5"/>
                </a:solidFill>
                <a:latin typeface="Anantason UltraExpanded Bold"/>
                <a:ea typeface="Anantason UltraExpanded Bold"/>
                <a:cs typeface="Anantason UltraExpanded Bold"/>
                <a:sym typeface="Anantason UltraExpanded Bold"/>
              </a:rPr>
              <a:t> </a:t>
            </a:r>
            <a:r>
              <a:rPr lang="en-US" b="true" sz="6802">
                <a:solidFill>
                  <a:srgbClr val="8EBFF5"/>
                </a:solidFill>
                <a:latin typeface="Anantason UltraExpanded Bold"/>
                <a:ea typeface="Anantason UltraExpanded Bold"/>
                <a:cs typeface="Anantason UltraExpanded Bold"/>
                <a:sym typeface="Anantason UltraExpanded Bold"/>
              </a:rPr>
              <a:t>Qu’est ce que l’intelligence artificielle (AI) :</a:t>
            </a:r>
          </a:p>
        </p:txBody>
      </p:sp>
      <p:sp>
        <p:nvSpPr>
          <p:cNvPr name="Freeform 5" id="5"/>
          <p:cNvSpPr/>
          <p:nvPr/>
        </p:nvSpPr>
        <p:spPr>
          <a:xfrm flipH="false" flipV="false" rot="0">
            <a:off x="12537177" y="6980561"/>
            <a:ext cx="4193763" cy="4193763"/>
          </a:xfrm>
          <a:custGeom>
            <a:avLst/>
            <a:gdLst/>
            <a:ahLst/>
            <a:cxnLst/>
            <a:rect r="r" b="b" t="t" l="l"/>
            <a:pathLst>
              <a:path h="4193763" w="4193763">
                <a:moveTo>
                  <a:pt x="0" y="0"/>
                </a:moveTo>
                <a:lnTo>
                  <a:pt x="4193763" y="0"/>
                </a:lnTo>
                <a:lnTo>
                  <a:pt x="4193763" y="4193763"/>
                </a:lnTo>
                <a:lnTo>
                  <a:pt x="0" y="41937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727617" y="5397085"/>
            <a:ext cx="9960313" cy="3146546"/>
          </a:xfrm>
          <a:prstGeom prst="rect">
            <a:avLst/>
          </a:prstGeom>
        </p:spPr>
        <p:txBody>
          <a:bodyPr anchor="t" rtlCol="false" tIns="0" lIns="0" bIns="0" rIns="0">
            <a:spAutoFit/>
          </a:bodyPr>
          <a:lstStyle/>
          <a:p>
            <a:pPr algn="just">
              <a:lnSpc>
                <a:spcPts val="2321"/>
              </a:lnSpc>
            </a:pPr>
            <a:r>
              <a:rPr lang="en-US" sz="2019" b="true">
                <a:solidFill>
                  <a:srgbClr val="8EBFF5"/>
                </a:solidFill>
                <a:latin typeface="Anantason UltraExpanded Bold"/>
                <a:ea typeface="Anantason UltraExpanded Bold"/>
                <a:cs typeface="Anantason UltraExpanded Bold"/>
                <a:sym typeface="Anantason UltraExpanded Bold"/>
              </a:rPr>
              <a:t>Définition </a:t>
            </a:r>
            <a:r>
              <a:rPr lang="en-US" sz="2019">
                <a:solidFill>
                  <a:srgbClr val="FFFFFF"/>
                </a:solidFill>
                <a:latin typeface="Anantason UltraExpanded"/>
                <a:ea typeface="Anantason UltraExpanded"/>
                <a:cs typeface="Anantason UltraExpanded"/>
                <a:sym typeface="Anantason UltraExpanded"/>
              </a:rPr>
              <a:t>: Discipline visant à créer des machines capables de réaliser des tâches nécessitant l’intelligence humaine (raisonnement, perception, compréhension du langage…) .</a:t>
            </a:r>
          </a:p>
          <a:p>
            <a:pPr algn="just">
              <a:lnSpc>
                <a:spcPts val="2321"/>
              </a:lnSpc>
            </a:pPr>
            <a:r>
              <a:rPr lang="en-US" sz="2019" b="true">
                <a:solidFill>
                  <a:srgbClr val="8EBFF5"/>
                </a:solidFill>
                <a:latin typeface="Anantason UltraExpanded Bold"/>
                <a:ea typeface="Anantason UltraExpanded Bold"/>
                <a:cs typeface="Anantason UltraExpanded Bold"/>
                <a:sym typeface="Anantason UltraExpanded Bold"/>
              </a:rPr>
              <a:t>Catégories d’IA :</a:t>
            </a:r>
          </a:p>
          <a:p>
            <a:pPr algn="just" marL="435912" indent="-217956" lvl="1">
              <a:lnSpc>
                <a:spcPts val="2321"/>
              </a:lnSpc>
              <a:buFont typeface="Arial"/>
              <a:buChar char="•"/>
            </a:pPr>
            <a:r>
              <a:rPr lang="en-US" sz="2019" u="sng">
                <a:solidFill>
                  <a:srgbClr val="6684EB"/>
                </a:solidFill>
                <a:latin typeface="Anantason UltraExpanded"/>
                <a:ea typeface="Anantason UltraExpanded"/>
                <a:cs typeface="Anantason UltraExpanded"/>
                <a:sym typeface="Anantason UltraExpanded"/>
              </a:rPr>
              <a:t>IA faible (Narrow AI) :</a:t>
            </a:r>
            <a:r>
              <a:rPr lang="en-US" sz="2019">
                <a:solidFill>
                  <a:srgbClr val="FFFFFF"/>
                </a:solidFill>
                <a:latin typeface="Anantason UltraExpanded"/>
                <a:ea typeface="Anantason UltraExpanded"/>
                <a:cs typeface="Anantason UltraExpanded"/>
                <a:sym typeface="Anantason UltraExpanded"/>
              </a:rPr>
              <a:t> Spécialisée dans une tâche (ex. ChatGPT, reconnaissance vocale).</a:t>
            </a:r>
          </a:p>
          <a:p>
            <a:pPr algn="just" marL="435912" indent="-217956" lvl="1">
              <a:lnSpc>
                <a:spcPts val="2321"/>
              </a:lnSpc>
              <a:buFont typeface="Arial"/>
              <a:buChar char="•"/>
            </a:pPr>
            <a:r>
              <a:rPr lang="en-US" sz="2019" u="sng">
                <a:solidFill>
                  <a:srgbClr val="6684EB"/>
                </a:solidFill>
                <a:latin typeface="Anantason UltraExpanded"/>
                <a:ea typeface="Anantason UltraExpanded"/>
                <a:cs typeface="Anantason UltraExpanded"/>
                <a:sym typeface="Anantason UltraExpanded"/>
              </a:rPr>
              <a:t>IA générale (AGI) :</a:t>
            </a:r>
            <a:r>
              <a:rPr lang="en-US" sz="2019">
                <a:solidFill>
                  <a:srgbClr val="FFFFFF"/>
                </a:solidFill>
                <a:latin typeface="Anantason UltraExpanded"/>
                <a:ea typeface="Anantason UltraExpanded"/>
                <a:cs typeface="Anantason UltraExpanded"/>
                <a:sym typeface="Anantason UltraExpanded"/>
              </a:rPr>
              <a:t> Capable d'apprendre et raisonner sur une vaste gamme de tâches .</a:t>
            </a:r>
          </a:p>
          <a:p>
            <a:pPr algn="just" marL="435912" indent="-217956" lvl="1">
              <a:lnSpc>
                <a:spcPts val="2321"/>
              </a:lnSpc>
              <a:buFont typeface="Arial"/>
              <a:buChar char="•"/>
            </a:pPr>
            <a:r>
              <a:rPr lang="en-US" sz="2019" u="sng">
                <a:solidFill>
                  <a:srgbClr val="6684EB"/>
                </a:solidFill>
                <a:latin typeface="Anantason UltraExpanded"/>
                <a:ea typeface="Anantason UltraExpanded"/>
                <a:cs typeface="Anantason UltraExpanded"/>
                <a:sym typeface="Anantason UltraExpanded"/>
              </a:rPr>
              <a:t>Applications courantes :</a:t>
            </a:r>
            <a:r>
              <a:rPr lang="en-US" sz="2019">
                <a:solidFill>
                  <a:srgbClr val="FFFFFF"/>
                </a:solidFill>
                <a:latin typeface="Anantason UltraExpanded"/>
                <a:ea typeface="Anantason UltraExpanded"/>
                <a:cs typeface="Anantason UltraExpanded"/>
                <a:sym typeface="Anantason UltraExpanded"/>
              </a:rPr>
              <a:t> assistants numériques, vision par ordinateur, diagnostics médicaux, robots, voitures autonomes.</a:t>
            </a:r>
          </a:p>
          <a:p>
            <a:pPr algn="just">
              <a:lnSpc>
                <a:spcPts val="2321"/>
              </a:lnSpc>
            </a:pPr>
          </a:p>
        </p:txBody>
      </p:sp>
      <p:sp>
        <p:nvSpPr>
          <p:cNvPr name="Freeform 7" id="7"/>
          <p:cNvSpPr/>
          <p:nvPr/>
        </p:nvSpPr>
        <p:spPr>
          <a:xfrm flipH="false" flipV="false" rot="0">
            <a:off x="8010204" y="1733262"/>
            <a:ext cx="2267591" cy="2267591"/>
          </a:xfrm>
          <a:custGeom>
            <a:avLst/>
            <a:gdLst/>
            <a:ahLst/>
            <a:cxnLst/>
            <a:rect r="r" b="b" t="t" l="l"/>
            <a:pathLst>
              <a:path h="2267591" w="2267591">
                <a:moveTo>
                  <a:pt x="0" y="0"/>
                </a:moveTo>
                <a:lnTo>
                  <a:pt x="2267592" y="0"/>
                </a:lnTo>
                <a:lnTo>
                  <a:pt x="2267592" y="2267591"/>
                </a:lnTo>
                <a:lnTo>
                  <a:pt x="0" y="22675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0277796" y="2084901"/>
            <a:ext cx="9670423" cy="3831905"/>
          </a:xfrm>
          <a:custGeom>
            <a:avLst/>
            <a:gdLst/>
            <a:ahLst/>
            <a:cxnLst/>
            <a:rect r="r" b="b" t="t" l="l"/>
            <a:pathLst>
              <a:path h="3831905" w="9670423">
                <a:moveTo>
                  <a:pt x="0" y="0"/>
                </a:moveTo>
                <a:lnTo>
                  <a:pt x="9670422" y="0"/>
                </a:lnTo>
                <a:lnTo>
                  <a:pt x="9670422" y="3831905"/>
                </a:lnTo>
                <a:lnTo>
                  <a:pt x="0" y="3831905"/>
                </a:lnTo>
                <a:lnTo>
                  <a:pt x="0" y="0"/>
                </a:lnTo>
                <a:close/>
              </a:path>
            </a:pathLst>
          </a:custGeom>
          <a:blipFill>
            <a:blip r:embed="rId6"/>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028700" y="1227868"/>
            <a:ext cx="16230600" cy="7831265"/>
          </a:xfrm>
          <a:custGeom>
            <a:avLst/>
            <a:gdLst/>
            <a:ahLst/>
            <a:cxnLst/>
            <a:rect r="r" b="b" t="t" l="l"/>
            <a:pathLst>
              <a:path h="7831265" w="16230600">
                <a:moveTo>
                  <a:pt x="0" y="0"/>
                </a:moveTo>
                <a:lnTo>
                  <a:pt x="16230600" y="0"/>
                </a:lnTo>
                <a:lnTo>
                  <a:pt x="16230600" y="7831264"/>
                </a:lnTo>
                <a:lnTo>
                  <a:pt x="0" y="7831264"/>
                </a:lnTo>
                <a:lnTo>
                  <a:pt x="0" y="0"/>
                </a:lnTo>
                <a:close/>
              </a:path>
            </a:pathLst>
          </a:custGeom>
          <a:blipFill>
            <a:blip r:embed="rId3"/>
            <a:stretch>
              <a:fillRect l="0" t="0" r="0" b="0"/>
            </a:stretch>
          </a:blipFill>
        </p:spPr>
      </p:sp>
      <p:sp>
        <p:nvSpPr>
          <p:cNvPr name="TextBox 4" id="4"/>
          <p:cNvSpPr txBox="true"/>
          <p:nvPr/>
        </p:nvSpPr>
        <p:spPr>
          <a:xfrm rot="0">
            <a:off x="607250" y="4070207"/>
            <a:ext cx="15821389" cy="2251361"/>
          </a:xfrm>
          <a:prstGeom prst="rect">
            <a:avLst/>
          </a:prstGeom>
        </p:spPr>
        <p:txBody>
          <a:bodyPr anchor="t" rtlCol="false" tIns="0" lIns="0" bIns="0" rIns="0">
            <a:spAutoFit/>
          </a:bodyPr>
          <a:lstStyle/>
          <a:p>
            <a:pPr algn="r">
              <a:lnSpc>
                <a:spcPts val="8724"/>
              </a:lnSpc>
            </a:pPr>
            <a:r>
              <a:rPr lang="en-US" b="true" sz="8230">
                <a:solidFill>
                  <a:srgbClr val="8EBFF5"/>
                </a:solidFill>
                <a:latin typeface="Anantason UltraExpanded Bold"/>
                <a:ea typeface="Anantason UltraExpanded Bold"/>
                <a:cs typeface="Anantason UltraExpanded Bold"/>
                <a:sym typeface="Anantason UltraExpanded Bold"/>
              </a:rPr>
              <a:t>2. MACHINE LEARNING (ML) – CŒUR DE L’IA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521661" y="674891"/>
            <a:ext cx="12999261" cy="7831265"/>
          </a:xfrm>
          <a:custGeom>
            <a:avLst/>
            <a:gdLst/>
            <a:ahLst/>
            <a:cxnLst/>
            <a:rect r="r" b="b" t="t" l="l"/>
            <a:pathLst>
              <a:path h="7831265" w="12999261">
                <a:moveTo>
                  <a:pt x="0" y="0"/>
                </a:moveTo>
                <a:lnTo>
                  <a:pt x="12999260" y="0"/>
                </a:lnTo>
                <a:lnTo>
                  <a:pt x="12999260" y="7831265"/>
                </a:lnTo>
                <a:lnTo>
                  <a:pt x="0" y="7831265"/>
                </a:lnTo>
                <a:lnTo>
                  <a:pt x="0" y="0"/>
                </a:lnTo>
                <a:close/>
              </a:path>
            </a:pathLst>
          </a:custGeom>
          <a:blipFill>
            <a:blip r:embed="rId3"/>
            <a:stretch>
              <a:fillRect l="-11484" t="0" r="-13372" b="0"/>
            </a:stretch>
          </a:blipFill>
        </p:spPr>
      </p:sp>
      <p:sp>
        <p:nvSpPr>
          <p:cNvPr name="Freeform 4" id="4"/>
          <p:cNvSpPr/>
          <p:nvPr/>
        </p:nvSpPr>
        <p:spPr>
          <a:xfrm flipH="false" flipV="false" rot="0">
            <a:off x="3217154" y="1096147"/>
            <a:ext cx="11547518" cy="6988754"/>
          </a:xfrm>
          <a:custGeom>
            <a:avLst/>
            <a:gdLst/>
            <a:ahLst/>
            <a:cxnLst/>
            <a:rect r="r" b="b" t="t" l="l"/>
            <a:pathLst>
              <a:path h="6988754" w="11547518">
                <a:moveTo>
                  <a:pt x="0" y="0"/>
                </a:moveTo>
                <a:lnTo>
                  <a:pt x="11547518" y="0"/>
                </a:lnTo>
                <a:lnTo>
                  <a:pt x="11547518" y="6988753"/>
                </a:lnTo>
                <a:lnTo>
                  <a:pt x="0" y="6988753"/>
                </a:lnTo>
                <a:lnTo>
                  <a:pt x="0" y="0"/>
                </a:lnTo>
                <a:close/>
              </a:path>
            </a:pathLst>
          </a:custGeom>
          <a:blipFill>
            <a:blip r:embed="rId4"/>
            <a:stretch>
              <a:fillRect l="0" t="-7727" r="0" b="-7727"/>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028700" y="1227868"/>
            <a:ext cx="16230600" cy="7831265"/>
          </a:xfrm>
          <a:custGeom>
            <a:avLst/>
            <a:gdLst/>
            <a:ahLst/>
            <a:cxnLst/>
            <a:rect r="r" b="b" t="t" l="l"/>
            <a:pathLst>
              <a:path h="7831265" w="16230600">
                <a:moveTo>
                  <a:pt x="0" y="0"/>
                </a:moveTo>
                <a:lnTo>
                  <a:pt x="16230600" y="0"/>
                </a:lnTo>
                <a:lnTo>
                  <a:pt x="16230600" y="7831264"/>
                </a:lnTo>
                <a:lnTo>
                  <a:pt x="0" y="7831264"/>
                </a:lnTo>
                <a:lnTo>
                  <a:pt x="0" y="0"/>
                </a:lnTo>
                <a:close/>
              </a:path>
            </a:pathLst>
          </a:custGeom>
          <a:blipFill>
            <a:blip r:embed="rId3"/>
            <a:stretch>
              <a:fillRect l="0" t="0" r="0" b="0"/>
            </a:stretch>
          </a:blipFill>
        </p:spPr>
      </p:sp>
      <p:sp>
        <p:nvSpPr>
          <p:cNvPr name="Freeform 4" id="4"/>
          <p:cNvSpPr/>
          <p:nvPr/>
        </p:nvSpPr>
        <p:spPr>
          <a:xfrm flipH="false" flipV="false" rot="0">
            <a:off x="459726" y="1251941"/>
            <a:ext cx="8109846" cy="11244154"/>
          </a:xfrm>
          <a:custGeom>
            <a:avLst/>
            <a:gdLst/>
            <a:ahLst/>
            <a:cxnLst/>
            <a:rect r="r" b="b" t="t" l="l"/>
            <a:pathLst>
              <a:path h="11244154" w="8109846">
                <a:moveTo>
                  <a:pt x="0" y="0"/>
                </a:moveTo>
                <a:lnTo>
                  <a:pt x="8109847" y="0"/>
                </a:lnTo>
                <a:lnTo>
                  <a:pt x="8109847" y="11244154"/>
                </a:lnTo>
                <a:lnTo>
                  <a:pt x="0" y="11244154"/>
                </a:lnTo>
                <a:lnTo>
                  <a:pt x="0" y="0"/>
                </a:lnTo>
                <a:close/>
              </a:path>
            </a:pathLst>
          </a:custGeom>
          <a:blipFill>
            <a:blip r:embed="rId4"/>
            <a:stretch>
              <a:fillRect l="0" t="0" r="0" b="0"/>
            </a:stretch>
          </a:blipFill>
        </p:spPr>
      </p:sp>
      <p:sp>
        <p:nvSpPr>
          <p:cNvPr name="TextBox 5" id="5"/>
          <p:cNvSpPr txBox="true"/>
          <p:nvPr/>
        </p:nvSpPr>
        <p:spPr>
          <a:xfrm rot="0">
            <a:off x="7110832" y="4622657"/>
            <a:ext cx="9808644" cy="1146461"/>
          </a:xfrm>
          <a:prstGeom prst="rect">
            <a:avLst/>
          </a:prstGeom>
        </p:spPr>
        <p:txBody>
          <a:bodyPr anchor="t" rtlCol="false" tIns="0" lIns="0" bIns="0" rIns="0">
            <a:spAutoFit/>
          </a:bodyPr>
          <a:lstStyle/>
          <a:p>
            <a:pPr algn="r">
              <a:lnSpc>
                <a:spcPts val="8724"/>
              </a:lnSpc>
            </a:pPr>
            <a:r>
              <a:rPr lang="en-US" b="true" sz="8230">
                <a:solidFill>
                  <a:srgbClr val="8EBFF5"/>
                </a:solidFill>
                <a:latin typeface="Anantason UltraExpanded Bold"/>
                <a:ea typeface="Anantason UltraExpanded Bold"/>
                <a:cs typeface="Anantason UltraExpanded Bold"/>
                <a:sym typeface="Anantason UltraExpanded Bold"/>
              </a:rPr>
              <a:t>2.1 DÉFINITION :</a:t>
            </a:r>
          </a:p>
        </p:txBody>
      </p:sp>
      <p:sp>
        <p:nvSpPr>
          <p:cNvPr name="TextBox 6" id="6"/>
          <p:cNvSpPr txBox="true"/>
          <p:nvPr/>
        </p:nvSpPr>
        <p:spPr>
          <a:xfrm rot="0">
            <a:off x="7748170" y="6162757"/>
            <a:ext cx="7715906" cy="1432046"/>
          </a:xfrm>
          <a:prstGeom prst="rect">
            <a:avLst/>
          </a:prstGeom>
        </p:spPr>
        <p:txBody>
          <a:bodyPr anchor="t" rtlCol="false" tIns="0" lIns="0" bIns="0" rIns="0">
            <a:spAutoFit/>
          </a:bodyPr>
          <a:lstStyle/>
          <a:p>
            <a:pPr algn="just">
              <a:lnSpc>
                <a:spcPts val="2321"/>
              </a:lnSpc>
            </a:pPr>
            <a:r>
              <a:rPr lang="en-US" sz="2019">
                <a:solidFill>
                  <a:srgbClr val="FFFFFF"/>
                </a:solidFill>
                <a:latin typeface="Anantason UltraExpanded"/>
                <a:ea typeface="Anantason UltraExpanded"/>
                <a:cs typeface="Anantason UltraExpanded"/>
                <a:sym typeface="Anantason UltraExpanded"/>
              </a:rPr>
              <a:t>Machine Learning ML est un processus permettant aux ordinateurs d’apprendre de façon autonome en identifiant des motifs et prenant des décisions basées sur des données, particulièrement quand écrire un programme détaillé est impraticable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028700" y="1227868"/>
            <a:ext cx="16230600" cy="7831265"/>
          </a:xfrm>
          <a:custGeom>
            <a:avLst/>
            <a:gdLst/>
            <a:ahLst/>
            <a:cxnLst/>
            <a:rect r="r" b="b" t="t" l="l"/>
            <a:pathLst>
              <a:path h="7831265" w="16230600">
                <a:moveTo>
                  <a:pt x="0" y="0"/>
                </a:moveTo>
                <a:lnTo>
                  <a:pt x="16230600" y="0"/>
                </a:lnTo>
                <a:lnTo>
                  <a:pt x="16230600" y="7831264"/>
                </a:lnTo>
                <a:lnTo>
                  <a:pt x="0" y="7831264"/>
                </a:lnTo>
                <a:lnTo>
                  <a:pt x="0" y="0"/>
                </a:lnTo>
                <a:close/>
              </a:path>
            </a:pathLst>
          </a:custGeom>
          <a:blipFill>
            <a:blip r:embed="rId3"/>
            <a:stretch>
              <a:fillRect l="0" t="0" r="0" b="0"/>
            </a:stretch>
          </a:blipFill>
        </p:spPr>
      </p:sp>
      <p:sp>
        <p:nvSpPr>
          <p:cNvPr name="Freeform 4" id="4"/>
          <p:cNvSpPr/>
          <p:nvPr/>
        </p:nvSpPr>
        <p:spPr>
          <a:xfrm flipH="false" flipV="false" rot="0">
            <a:off x="2573546" y="3107377"/>
            <a:ext cx="1576938" cy="1548267"/>
          </a:xfrm>
          <a:custGeom>
            <a:avLst/>
            <a:gdLst/>
            <a:ahLst/>
            <a:cxnLst/>
            <a:rect r="r" b="b" t="t" l="l"/>
            <a:pathLst>
              <a:path h="1548267" w="1576938">
                <a:moveTo>
                  <a:pt x="0" y="0"/>
                </a:moveTo>
                <a:lnTo>
                  <a:pt x="1576938" y="0"/>
                </a:lnTo>
                <a:lnTo>
                  <a:pt x="1576938" y="1548267"/>
                </a:lnTo>
                <a:lnTo>
                  <a:pt x="0" y="15482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203154" y="1842528"/>
            <a:ext cx="17881692" cy="649357"/>
          </a:xfrm>
          <a:prstGeom prst="rect">
            <a:avLst/>
          </a:prstGeom>
        </p:spPr>
        <p:txBody>
          <a:bodyPr anchor="t" rtlCol="false" tIns="0" lIns="0" bIns="0" rIns="0">
            <a:spAutoFit/>
          </a:bodyPr>
          <a:lstStyle/>
          <a:p>
            <a:pPr algn="ctr">
              <a:lnSpc>
                <a:spcPts val="4992"/>
              </a:lnSpc>
            </a:pPr>
            <a:r>
              <a:rPr lang="en-US" b="true" sz="4709">
                <a:solidFill>
                  <a:srgbClr val="8EBFF5"/>
                </a:solidFill>
                <a:latin typeface="Anantason UltraExpanded Bold"/>
                <a:ea typeface="Anantason UltraExpanded Bold"/>
                <a:cs typeface="Anantason UltraExpanded Bold"/>
                <a:sym typeface="Anantason UltraExpanded Bold"/>
              </a:rPr>
              <a:t>2.2 PRINCIPAUX TYPES D’APPRENTISSAGE :</a:t>
            </a:r>
          </a:p>
        </p:txBody>
      </p:sp>
      <p:sp>
        <p:nvSpPr>
          <p:cNvPr name="TextBox 6" id="6"/>
          <p:cNvSpPr txBox="true"/>
          <p:nvPr/>
        </p:nvSpPr>
        <p:spPr>
          <a:xfrm rot="0">
            <a:off x="2719474" y="3417954"/>
            <a:ext cx="1285081" cy="831862"/>
          </a:xfrm>
          <a:prstGeom prst="rect">
            <a:avLst/>
          </a:prstGeom>
        </p:spPr>
        <p:txBody>
          <a:bodyPr anchor="t" rtlCol="false" tIns="0" lIns="0" bIns="0" rIns="0">
            <a:spAutoFit/>
          </a:bodyPr>
          <a:lstStyle/>
          <a:p>
            <a:pPr algn="ctr">
              <a:lnSpc>
                <a:spcPts val="6910"/>
              </a:lnSpc>
            </a:pPr>
            <a:r>
              <a:rPr lang="en-US" sz="4936">
                <a:solidFill>
                  <a:srgbClr val="8EBFF5"/>
                </a:solidFill>
                <a:latin typeface="Anantason UltraExpanded"/>
                <a:ea typeface="Anantason UltraExpanded"/>
                <a:cs typeface="Anantason UltraExpanded"/>
                <a:sym typeface="Anantason UltraExpanded"/>
              </a:rPr>
              <a:t>1</a:t>
            </a:r>
          </a:p>
        </p:txBody>
      </p:sp>
      <p:sp>
        <p:nvSpPr>
          <p:cNvPr name="TextBox 7" id="7"/>
          <p:cNvSpPr txBox="true"/>
          <p:nvPr/>
        </p:nvSpPr>
        <p:spPr>
          <a:xfrm rot="0">
            <a:off x="1780546" y="5055694"/>
            <a:ext cx="3162938" cy="3172425"/>
          </a:xfrm>
          <a:prstGeom prst="rect">
            <a:avLst/>
          </a:prstGeom>
        </p:spPr>
        <p:txBody>
          <a:bodyPr anchor="t" rtlCol="false" tIns="0" lIns="0" bIns="0" rIns="0">
            <a:spAutoFit/>
          </a:bodyPr>
          <a:lstStyle/>
          <a:p>
            <a:pPr algn="ctr">
              <a:lnSpc>
                <a:spcPts val="2070"/>
              </a:lnSpc>
            </a:pPr>
            <a:r>
              <a:rPr lang="en-US" b="true" sz="1800" u="sng">
                <a:solidFill>
                  <a:srgbClr val="8EBFF5"/>
                </a:solidFill>
                <a:latin typeface="Anantason UltraExpanded Bold"/>
                <a:ea typeface="Anantason UltraExpanded Bold"/>
                <a:cs typeface="Anantason UltraExpanded Bold"/>
                <a:sym typeface="Anantason UltraExpanded Bold"/>
              </a:rPr>
              <a:t>Apprentissage supervisé</a:t>
            </a:r>
          </a:p>
          <a:p>
            <a:pPr algn="ctr">
              <a:lnSpc>
                <a:spcPts val="2070"/>
              </a:lnSpc>
            </a:pPr>
          </a:p>
          <a:p>
            <a:pPr algn="ctr" marL="299867" indent="-149934" lvl="1">
              <a:lnSpc>
                <a:spcPts val="1597"/>
              </a:lnSpc>
              <a:buFont typeface="Arial"/>
              <a:buChar char="•"/>
            </a:pPr>
            <a:r>
              <a:rPr lang="en-US" sz="1388">
                <a:solidFill>
                  <a:srgbClr val="FFFFFF"/>
                </a:solidFill>
                <a:latin typeface="Anantason UltraExpanded"/>
                <a:ea typeface="Anantason UltraExpanded"/>
                <a:cs typeface="Anantason UltraExpanded"/>
                <a:sym typeface="Anantason UltraExpanded"/>
              </a:rPr>
              <a:t>Utilise des données labellisées (entrées + sorties connues) .</a:t>
            </a:r>
          </a:p>
          <a:p>
            <a:pPr algn="ctr" marL="299867" indent="-149934" lvl="1">
              <a:lnSpc>
                <a:spcPts val="1597"/>
              </a:lnSpc>
              <a:buFont typeface="Arial"/>
              <a:buChar char="•"/>
            </a:pPr>
            <a:r>
              <a:rPr lang="en-US" b="true" sz="1388">
                <a:solidFill>
                  <a:srgbClr val="FF3131"/>
                </a:solidFill>
                <a:latin typeface="Anantason UltraExpanded Bold"/>
                <a:ea typeface="Anantason UltraExpanded Bold"/>
                <a:cs typeface="Anantason UltraExpanded Bold"/>
                <a:sym typeface="Anantason UltraExpanded Bold"/>
              </a:rPr>
              <a:t>Tâches </a:t>
            </a:r>
            <a:r>
              <a:rPr lang="en-US" sz="1388">
                <a:solidFill>
                  <a:srgbClr val="FFFFFF"/>
                </a:solidFill>
                <a:latin typeface="Anantason UltraExpanded"/>
                <a:ea typeface="Anantason UltraExpanded"/>
                <a:cs typeface="Anantason UltraExpanded"/>
                <a:sym typeface="Anantason UltraExpanded"/>
              </a:rPr>
              <a:t>: classification (ex. spam vs non‑spam), régression (ex. prix de l’immobilier).</a:t>
            </a:r>
          </a:p>
          <a:p>
            <a:pPr algn="ctr" marL="299867" indent="-149934" lvl="1">
              <a:lnSpc>
                <a:spcPts val="1597"/>
              </a:lnSpc>
              <a:buFont typeface="Arial"/>
              <a:buChar char="•"/>
            </a:pPr>
            <a:r>
              <a:rPr lang="en-US" b="true" sz="1388">
                <a:solidFill>
                  <a:srgbClr val="6684EB"/>
                </a:solidFill>
                <a:latin typeface="Anantason UltraExpanded Bold"/>
                <a:ea typeface="Anantason UltraExpanded Bold"/>
                <a:cs typeface="Anantason UltraExpanded Bold"/>
                <a:sym typeface="Anantason UltraExpanded Bold"/>
              </a:rPr>
              <a:t>Algorithmes </a:t>
            </a:r>
            <a:r>
              <a:rPr lang="en-US" sz="1388">
                <a:solidFill>
                  <a:srgbClr val="FFFFFF"/>
                </a:solidFill>
                <a:latin typeface="Anantason UltraExpanded"/>
                <a:ea typeface="Anantason UltraExpanded"/>
                <a:cs typeface="Anantason UltraExpanded"/>
                <a:sym typeface="Anantason UltraExpanded"/>
              </a:rPr>
              <a:t>: régression linéaire/logistique, SVM, arbres de décision, réseaux de neurones</a:t>
            </a:r>
          </a:p>
          <a:p>
            <a:pPr algn="ctr">
              <a:lnSpc>
                <a:spcPts val="1597"/>
              </a:lnSpc>
            </a:pPr>
          </a:p>
        </p:txBody>
      </p:sp>
      <p:sp>
        <p:nvSpPr>
          <p:cNvPr name="Freeform 8" id="8"/>
          <p:cNvSpPr/>
          <p:nvPr/>
        </p:nvSpPr>
        <p:spPr>
          <a:xfrm flipH="false" flipV="false" rot="0">
            <a:off x="6377562" y="3107377"/>
            <a:ext cx="1576938" cy="1548267"/>
          </a:xfrm>
          <a:custGeom>
            <a:avLst/>
            <a:gdLst/>
            <a:ahLst/>
            <a:cxnLst/>
            <a:rect r="r" b="b" t="t" l="l"/>
            <a:pathLst>
              <a:path h="1548267" w="1576938">
                <a:moveTo>
                  <a:pt x="0" y="0"/>
                </a:moveTo>
                <a:lnTo>
                  <a:pt x="1576938" y="0"/>
                </a:lnTo>
                <a:lnTo>
                  <a:pt x="1576938" y="1548267"/>
                </a:lnTo>
                <a:lnTo>
                  <a:pt x="0" y="15482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6523490" y="3417954"/>
            <a:ext cx="1285081" cy="831862"/>
          </a:xfrm>
          <a:prstGeom prst="rect">
            <a:avLst/>
          </a:prstGeom>
        </p:spPr>
        <p:txBody>
          <a:bodyPr anchor="t" rtlCol="false" tIns="0" lIns="0" bIns="0" rIns="0">
            <a:spAutoFit/>
          </a:bodyPr>
          <a:lstStyle/>
          <a:p>
            <a:pPr algn="ctr">
              <a:lnSpc>
                <a:spcPts val="6910"/>
              </a:lnSpc>
            </a:pPr>
            <a:r>
              <a:rPr lang="en-US" sz="4936">
                <a:solidFill>
                  <a:srgbClr val="8EBFF5"/>
                </a:solidFill>
                <a:latin typeface="Anantason UltraExpanded"/>
                <a:ea typeface="Anantason UltraExpanded"/>
                <a:cs typeface="Anantason UltraExpanded"/>
                <a:sym typeface="Anantason UltraExpanded"/>
              </a:rPr>
              <a:t>2</a:t>
            </a:r>
          </a:p>
        </p:txBody>
      </p:sp>
      <p:sp>
        <p:nvSpPr>
          <p:cNvPr name="TextBox 10" id="10"/>
          <p:cNvSpPr txBox="true"/>
          <p:nvPr/>
        </p:nvSpPr>
        <p:spPr>
          <a:xfrm rot="0">
            <a:off x="5584562" y="5055694"/>
            <a:ext cx="3162938" cy="2972400"/>
          </a:xfrm>
          <a:prstGeom prst="rect">
            <a:avLst/>
          </a:prstGeom>
        </p:spPr>
        <p:txBody>
          <a:bodyPr anchor="t" rtlCol="false" tIns="0" lIns="0" bIns="0" rIns="0">
            <a:spAutoFit/>
          </a:bodyPr>
          <a:lstStyle/>
          <a:p>
            <a:pPr algn="ctr">
              <a:lnSpc>
                <a:spcPts val="2070"/>
              </a:lnSpc>
            </a:pPr>
            <a:r>
              <a:rPr lang="en-US" b="true" sz="1800" u="sng">
                <a:solidFill>
                  <a:srgbClr val="8EBFF5"/>
                </a:solidFill>
                <a:latin typeface="Anantason UltraExpanded Bold"/>
                <a:ea typeface="Anantason UltraExpanded Bold"/>
                <a:cs typeface="Anantason UltraExpanded Bold"/>
                <a:sym typeface="Anantason UltraExpanded Bold"/>
              </a:rPr>
              <a:t>Apprentissage non supervisé</a:t>
            </a:r>
          </a:p>
          <a:p>
            <a:pPr algn="ctr">
              <a:lnSpc>
                <a:spcPts val="2070"/>
              </a:lnSpc>
            </a:pPr>
          </a:p>
          <a:p>
            <a:pPr algn="ctr" marL="299867" indent="-149934" lvl="1">
              <a:lnSpc>
                <a:spcPts val="1597"/>
              </a:lnSpc>
              <a:buFont typeface="Arial"/>
              <a:buChar char="•"/>
            </a:pPr>
            <a:r>
              <a:rPr lang="en-US" sz="1388">
                <a:solidFill>
                  <a:srgbClr val="FFFFFF"/>
                </a:solidFill>
                <a:latin typeface="Anantason UltraExpanded"/>
                <a:ea typeface="Anantason UltraExpanded"/>
                <a:cs typeface="Anantason UltraExpanded"/>
                <a:sym typeface="Anantason UltraExpanded"/>
              </a:rPr>
              <a:t>Travaille avec des données non labellisées pour découvrir des motifs .</a:t>
            </a:r>
          </a:p>
          <a:p>
            <a:pPr algn="ctr" marL="299867" indent="-149934" lvl="1">
              <a:lnSpc>
                <a:spcPts val="1597"/>
              </a:lnSpc>
              <a:buFont typeface="Arial"/>
              <a:buChar char="•"/>
            </a:pPr>
            <a:r>
              <a:rPr lang="en-US" b="true" sz="1388">
                <a:solidFill>
                  <a:srgbClr val="FF3131"/>
                </a:solidFill>
                <a:latin typeface="Anantason UltraExpanded Bold"/>
                <a:ea typeface="Anantason UltraExpanded Bold"/>
                <a:cs typeface="Anantason UltraExpanded Bold"/>
                <a:sym typeface="Anantason UltraExpanded Bold"/>
              </a:rPr>
              <a:t>Tâches </a:t>
            </a:r>
            <a:r>
              <a:rPr lang="en-US" sz="1388">
                <a:solidFill>
                  <a:srgbClr val="FFFFFF"/>
                </a:solidFill>
                <a:latin typeface="Anantason UltraExpanded"/>
                <a:ea typeface="Anantason UltraExpanded"/>
                <a:cs typeface="Anantason UltraExpanded"/>
                <a:sym typeface="Anantason UltraExpanded"/>
              </a:rPr>
              <a:t>: clustering (K‑means, DBSCAN), réduction de dimensionnalité (PCA) </a:t>
            </a:r>
          </a:p>
          <a:p>
            <a:pPr algn="ctr" marL="299867" indent="-149934" lvl="1">
              <a:lnSpc>
                <a:spcPts val="1597"/>
              </a:lnSpc>
              <a:buFont typeface="Arial"/>
              <a:buChar char="•"/>
            </a:pPr>
            <a:r>
              <a:rPr lang="en-US" b="true" sz="1388">
                <a:solidFill>
                  <a:srgbClr val="6684EB"/>
                </a:solidFill>
                <a:latin typeface="Anantason UltraExpanded Bold"/>
                <a:ea typeface="Anantason UltraExpanded Bold"/>
                <a:cs typeface="Anantason UltraExpanded Bold"/>
                <a:sym typeface="Anantason UltraExpanded Bold"/>
              </a:rPr>
              <a:t>Cas d’usage :</a:t>
            </a:r>
            <a:r>
              <a:rPr lang="en-US" sz="1388">
                <a:solidFill>
                  <a:srgbClr val="FFFFFF"/>
                </a:solidFill>
                <a:latin typeface="Anantason UltraExpanded"/>
                <a:ea typeface="Anantason UltraExpanded"/>
                <a:cs typeface="Anantason UltraExpanded"/>
                <a:sym typeface="Anantason UltraExpanded"/>
              </a:rPr>
              <a:t> segmentation de clients, détection d’anomalies, recommandations.</a:t>
            </a:r>
          </a:p>
          <a:p>
            <a:pPr algn="ctr">
              <a:lnSpc>
                <a:spcPts val="1597"/>
              </a:lnSpc>
            </a:pPr>
          </a:p>
        </p:txBody>
      </p:sp>
      <p:sp>
        <p:nvSpPr>
          <p:cNvPr name="Freeform 11" id="11"/>
          <p:cNvSpPr/>
          <p:nvPr/>
        </p:nvSpPr>
        <p:spPr>
          <a:xfrm flipH="false" flipV="false" rot="0">
            <a:off x="10178675" y="3107377"/>
            <a:ext cx="1576938" cy="1548267"/>
          </a:xfrm>
          <a:custGeom>
            <a:avLst/>
            <a:gdLst/>
            <a:ahLst/>
            <a:cxnLst/>
            <a:rect r="r" b="b" t="t" l="l"/>
            <a:pathLst>
              <a:path h="1548267" w="1576938">
                <a:moveTo>
                  <a:pt x="0" y="0"/>
                </a:moveTo>
                <a:lnTo>
                  <a:pt x="1576938" y="0"/>
                </a:lnTo>
                <a:lnTo>
                  <a:pt x="1576938" y="1548267"/>
                </a:lnTo>
                <a:lnTo>
                  <a:pt x="0" y="15482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10324604" y="3417954"/>
            <a:ext cx="1285081" cy="831862"/>
          </a:xfrm>
          <a:prstGeom prst="rect">
            <a:avLst/>
          </a:prstGeom>
        </p:spPr>
        <p:txBody>
          <a:bodyPr anchor="t" rtlCol="false" tIns="0" lIns="0" bIns="0" rIns="0">
            <a:spAutoFit/>
          </a:bodyPr>
          <a:lstStyle/>
          <a:p>
            <a:pPr algn="ctr">
              <a:lnSpc>
                <a:spcPts val="6910"/>
              </a:lnSpc>
            </a:pPr>
            <a:r>
              <a:rPr lang="en-US" sz="4936">
                <a:solidFill>
                  <a:srgbClr val="8EBFF5"/>
                </a:solidFill>
                <a:latin typeface="Anantason UltraExpanded"/>
                <a:ea typeface="Anantason UltraExpanded"/>
                <a:cs typeface="Anantason UltraExpanded"/>
                <a:sym typeface="Anantason UltraExpanded"/>
              </a:rPr>
              <a:t>3</a:t>
            </a:r>
          </a:p>
        </p:txBody>
      </p:sp>
      <p:sp>
        <p:nvSpPr>
          <p:cNvPr name="TextBox 13" id="13"/>
          <p:cNvSpPr txBox="true"/>
          <p:nvPr/>
        </p:nvSpPr>
        <p:spPr>
          <a:xfrm rot="0">
            <a:off x="9385675" y="5055694"/>
            <a:ext cx="3162938" cy="3572475"/>
          </a:xfrm>
          <a:prstGeom prst="rect">
            <a:avLst/>
          </a:prstGeom>
        </p:spPr>
        <p:txBody>
          <a:bodyPr anchor="t" rtlCol="false" tIns="0" lIns="0" bIns="0" rIns="0">
            <a:spAutoFit/>
          </a:bodyPr>
          <a:lstStyle/>
          <a:p>
            <a:pPr algn="ctr">
              <a:lnSpc>
                <a:spcPts val="2070"/>
              </a:lnSpc>
            </a:pPr>
            <a:r>
              <a:rPr lang="en-US" sz="1800" b="true">
                <a:solidFill>
                  <a:srgbClr val="8EBFF5"/>
                </a:solidFill>
                <a:latin typeface="Anantason UltraExpanded Bold"/>
                <a:ea typeface="Anantason UltraExpanded Bold"/>
                <a:cs typeface="Anantason UltraExpanded Bold"/>
                <a:sym typeface="Anantason UltraExpanded Bold"/>
              </a:rPr>
              <a:t>Apprentissage par renforcement (RL)</a:t>
            </a:r>
          </a:p>
          <a:p>
            <a:pPr algn="ctr">
              <a:lnSpc>
                <a:spcPts val="2070"/>
              </a:lnSpc>
            </a:pPr>
          </a:p>
          <a:p>
            <a:pPr algn="ctr" marL="299867" indent="-149934" lvl="1">
              <a:lnSpc>
                <a:spcPts val="1597"/>
              </a:lnSpc>
              <a:buFont typeface="Arial"/>
              <a:buChar char="•"/>
            </a:pPr>
            <a:r>
              <a:rPr lang="en-US" sz="1388">
                <a:solidFill>
                  <a:srgbClr val="FFFFFF"/>
                </a:solidFill>
                <a:latin typeface="Anantason UltraExpanded"/>
                <a:ea typeface="Anantason UltraExpanded"/>
                <a:cs typeface="Anantason UltraExpanded"/>
                <a:sym typeface="Anantason UltraExpanded"/>
              </a:rPr>
              <a:t>Un agent apprend en interagissant avec un environnement et en recevant des récompenses ou punitions .</a:t>
            </a:r>
          </a:p>
          <a:p>
            <a:pPr algn="ctr" marL="299867" indent="-149934" lvl="1">
              <a:lnSpc>
                <a:spcPts val="1597"/>
              </a:lnSpc>
              <a:buFont typeface="Arial"/>
              <a:buChar char="•"/>
            </a:pPr>
            <a:r>
              <a:rPr lang="en-US" sz="1388">
                <a:solidFill>
                  <a:srgbClr val="FFFFFF"/>
                </a:solidFill>
                <a:latin typeface="Anantason UltraExpanded"/>
                <a:ea typeface="Anantason UltraExpanded"/>
                <a:cs typeface="Anantason UltraExpanded"/>
                <a:sym typeface="Anantason UltraExpanded"/>
              </a:rPr>
              <a:t>Basé sur MDP (Markov Decision Process) .</a:t>
            </a:r>
          </a:p>
          <a:p>
            <a:pPr algn="ctr" marL="299867" indent="-149934" lvl="1">
              <a:lnSpc>
                <a:spcPts val="1597"/>
              </a:lnSpc>
              <a:buFont typeface="Arial"/>
              <a:buChar char="•"/>
            </a:pPr>
            <a:r>
              <a:rPr lang="en-US" b="true" sz="1388">
                <a:solidFill>
                  <a:srgbClr val="6684EB"/>
                </a:solidFill>
                <a:latin typeface="Anantason UltraExpanded Bold"/>
                <a:ea typeface="Anantason UltraExpanded Bold"/>
                <a:cs typeface="Anantason UltraExpanded Bold"/>
                <a:sym typeface="Anantason UltraExpanded Bold"/>
              </a:rPr>
              <a:t>Algorithmes </a:t>
            </a:r>
            <a:r>
              <a:rPr lang="en-US" sz="1388">
                <a:solidFill>
                  <a:srgbClr val="FFFFFF"/>
                </a:solidFill>
                <a:latin typeface="Anantason UltraExpanded"/>
                <a:ea typeface="Anantason UltraExpanded"/>
                <a:cs typeface="Anantason UltraExpanded"/>
                <a:sym typeface="Anantason UltraExpanded"/>
              </a:rPr>
              <a:t>: Q‑learning, SARSA, DQN, policy gradients.</a:t>
            </a:r>
          </a:p>
          <a:p>
            <a:pPr algn="ctr" marL="299867" indent="-149934" lvl="1">
              <a:lnSpc>
                <a:spcPts val="1597"/>
              </a:lnSpc>
              <a:buFont typeface="Arial"/>
              <a:buChar char="•"/>
            </a:pPr>
            <a:r>
              <a:rPr lang="en-US" b="true" sz="1388">
                <a:solidFill>
                  <a:srgbClr val="6684EB"/>
                </a:solidFill>
                <a:latin typeface="Anantason UltraExpanded Bold"/>
                <a:ea typeface="Anantason UltraExpanded Bold"/>
                <a:cs typeface="Anantason UltraExpanded Bold"/>
                <a:sym typeface="Anantason UltraExpanded Bold"/>
              </a:rPr>
              <a:t>Exemples </a:t>
            </a:r>
            <a:r>
              <a:rPr lang="en-US" sz="1388">
                <a:solidFill>
                  <a:srgbClr val="FFFFFF"/>
                </a:solidFill>
                <a:latin typeface="Anantason UltraExpanded"/>
                <a:ea typeface="Anantason UltraExpanded"/>
                <a:cs typeface="Anantason UltraExpanded"/>
                <a:sym typeface="Anantason UltraExpanded"/>
              </a:rPr>
              <a:t>: jeux (AlphaGo), robots, conduite autonome, feux de circulation intelligents</a:t>
            </a:r>
          </a:p>
          <a:p>
            <a:pPr algn="ctr">
              <a:lnSpc>
                <a:spcPts val="1597"/>
              </a:lnSpc>
            </a:pPr>
          </a:p>
        </p:txBody>
      </p:sp>
      <p:sp>
        <p:nvSpPr>
          <p:cNvPr name="Freeform 14" id="14"/>
          <p:cNvSpPr/>
          <p:nvPr/>
        </p:nvSpPr>
        <p:spPr>
          <a:xfrm flipH="false" flipV="false" rot="0">
            <a:off x="13979788" y="3107377"/>
            <a:ext cx="1576938" cy="1548267"/>
          </a:xfrm>
          <a:custGeom>
            <a:avLst/>
            <a:gdLst/>
            <a:ahLst/>
            <a:cxnLst/>
            <a:rect r="r" b="b" t="t" l="l"/>
            <a:pathLst>
              <a:path h="1548267" w="1576938">
                <a:moveTo>
                  <a:pt x="0" y="0"/>
                </a:moveTo>
                <a:lnTo>
                  <a:pt x="1576939" y="0"/>
                </a:lnTo>
                <a:lnTo>
                  <a:pt x="1576939" y="1548267"/>
                </a:lnTo>
                <a:lnTo>
                  <a:pt x="0" y="15482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14125717" y="3417954"/>
            <a:ext cx="1285081" cy="831862"/>
          </a:xfrm>
          <a:prstGeom prst="rect">
            <a:avLst/>
          </a:prstGeom>
        </p:spPr>
        <p:txBody>
          <a:bodyPr anchor="t" rtlCol="false" tIns="0" lIns="0" bIns="0" rIns="0">
            <a:spAutoFit/>
          </a:bodyPr>
          <a:lstStyle/>
          <a:p>
            <a:pPr algn="ctr">
              <a:lnSpc>
                <a:spcPts val="6910"/>
              </a:lnSpc>
            </a:pPr>
            <a:r>
              <a:rPr lang="en-US" sz="4936">
                <a:solidFill>
                  <a:srgbClr val="8EBFF5"/>
                </a:solidFill>
                <a:latin typeface="Anantason UltraExpanded"/>
                <a:ea typeface="Anantason UltraExpanded"/>
                <a:cs typeface="Anantason UltraExpanded"/>
                <a:sym typeface="Anantason UltraExpanded"/>
              </a:rPr>
              <a:t>4</a:t>
            </a:r>
          </a:p>
        </p:txBody>
      </p:sp>
      <p:sp>
        <p:nvSpPr>
          <p:cNvPr name="TextBox 16" id="16"/>
          <p:cNvSpPr txBox="true"/>
          <p:nvPr/>
        </p:nvSpPr>
        <p:spPr>
          <a:xfrm rot="0">
            <a:off x="13186788" y="5055694"/>
            <a:ext cx="3162938" cy="1315050"/>
          </a:xfrm>
          <a:prstGeom prst="rect">
            <a:avLst/>
          </a:prstGeom>
        </p:spPr>
        <p:txBody>
          <a:bodyPr anchor="t" rtlCol="false" tIns="0" lIns="0" bIns="0" rIns="0">
            <a:spAutoFit/>
          </a:bodyPr>
          <a:lstStyle/>
          <a:p>
            <a:pPr algn="ctr">
              <a:lnSpc>
                <a:spcPts val="2070"/>
              </a:lnSpc>
            </a:pPr>
            <a:r>
              <a:rPr lang="en-US" sz="1800" b="true">
                <a:solidFill>
                  <a:srgbClr val="8EBFF5"/>
                </a:solidFill>
                <a:latin typeface="Anantason UltraExpanded Bold"/>
                <a:ea typeface="Anantason UltraExpanded Bold"/>
                <a:cs typeface="Anantason UltraExpanded Bold"/>
                <a:sym typeface="Anantason UltraExpanded Bold"/>
              </a:rPr>
              <a:t>Semi-supervisé</a:t>
            </a:r>
          </a:p>
          <a:p>
            <a:pPr algn="ctr">
              <a:lnSpc>
                <a:spcPts val="2070"/>
              </a:lnSpc>
            </a:pPr>
          </a:p>
          <a:p>
            <a:pPr algn="ctr" marL="299867" indent="-149934" lvl="1">
              <a:lnSpc>
                <a:spcPts val="1597"/>
              </a:lnSpc>
              <a:buFont typeface="Arial"/>
              <a:buChar char="•"/>
            </a:pPr>
            <a:r>
              <a:rPr lang="en-US" sz="1388">
                <a:solidFill>
                  <a:srgbClr val="FFFFFF"/>
                </a:solidFill>
                <a:latin typeface="Anantason UltraExpanded"/>
                <a:ea typeface="Anantason UltraExpanded"/>
                <a:cs typeface="Anantason UltraExpanded"/>
                <a:sym typeface="Anantason UltraExpanded"/>
              </a:rPr>
              <a:t>Combine labels rares avec données non labellisées pour mieux exploiter les ressources</a:t>
            </a:r>
          </a:p>
          <a:p>
            <a:pPr algn="ctr">
              <a:lnSpc>
                <a:spcPts val="1597"/>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028700" y="1427035"/>
            <a:ext cx="16230600" cy="7831264"/>
          </a:xfrm>
          <a:custGeom>
            <a:avLst/>
            <a:gdLst/>
            <a:ahLst/>
            <a:cxnLst/>
            <a:rect r="r" b="b" t="t" l="l"/>
            <a:pathLst>
              <a:path h="7831264" w="16230600">
                <a:moveTo>
                  <a:pt x="0" y="0"/>
                </a:moveTo>
                <a:lnTo>
                  <a:pt x="16230600" y="0"/>
                </a:lnTo>
                <a:lnTo>
                  <a:pt x="16230600" y="7831265"/>
                </a:lnTo>
                <a:lnTo>
                  <a:pt x="0" y="7831265"/>
                </a:lnTo>
                <a:lnTo>
                  <a:pt x="0" y="0"/>
                </a:lnTo>
                <a:close/>
              </a:path>
            </a:pathLst>
          </a:custGeom>
          <a:blipFill>
            <a:blip r:embed="rId3"/>
            <a:stretch>
              <a:fillRect l="0" t="0" r="0" b="0"/>
            </a:stretch>
          </a:blipFill>
        </p:spPr>
      </p:sp>
      <p:sp>
        <p:nvSpPr>
          <p:cNvPr name="Freeform 4" id="4"/>
          <p:cNvSpPr/>
          <p:nvPr/>
        </p:nvSpPr>
        <p:spPr>
          <a:xfrm flipH="false" flipV="false" rot="0">
            <a:off x="6287562" y="4481570"/>
            <a:ext cx="5266269" cy="4102945"/>
          </a:xfrm>
          <a:custGeom>
            <a:avLst/>
            <a:gdLst/>
            <a:ahLst/>
            <a:cxnLst/>
            <a:rect r="r" b="b" t="t" l="l"/>
            <a:pathLst>
              <a:path h="4102945" w="5266269">
                <a:moveTo>
                  <a:pt x="0" y="0"/>
                </a:moveTo>
                <a:lnTo>
                  <a:pt x="5266269" y="0"/>
                </a:lnTo>
                <a:lnTo>
                  <a:pt x="5266269" y="4102946"/>
                </a:lnTo>
                <a:lnTo>
                  <a:pt x="0" y="4102946"/>
                </a:lnTo>
                <a:lnTo>
                  <a:pt x="0" y="0"/>
                </a:lnTo>
                <a:close/>
              </a:path>
            </a:pathLst>
          </a:custGeom>
          <a:blipFill>
            <a:blip r:embed="rId4"/>
            <a:stretch>
              <a:fillRect l="0" t="-6846" r="0" b="-6846"/>
            </a:stretch>
          </a:blipFill>
        </p:spPr>
      </p:sp>
      <p:sp>
        <p:nvSpPr>
          <p:cNvPr name="TextBox 5" id="5"/>
          <p:cNvSpPr txBox="true"/>
          <p:nvPr/>
        </p:nvSpPr>
        <p:spPr>
          <a:xfrm rot="0">
            <a:off x="1568472" y="1952372"/>
            <a:ext cx="15479497" cy="912630"/>
          </a:xfrm>
          <a:prstGeom prst="rect">
            <a:avLst/>
          </a:prstGeom>
        </p:spPr>
        <p:txBody>
          <a:bodyPr anchor="t" rtlCol="false" tIns="0" lIns="0" bIns="0" rIns="0">
            <a:spAutoFit/>
          </a:bodyPr>
          <a:lstStyle/>
          <a:p>
            <a:pPr algn="r">
              <a:lnSpc>
                <a:spcPts val="6960"/>
              </a:lnSpc>
            </a:pPr>
            <a:r>
              <a:rPr lang="en-US" b="true" sz="6566">
                <a:solidFill>
                  <a:srgbClr val="8EBFF5"/>
                </a:solidFill>
                <a:latin typeface="Anantason UltraExpanded Bold"/>
                <a:ea typeface="Anantason UltraExpanded Bold"/>
                <a:cs typeface="Anantason UltraExpanded Bold"/>
                <a:sym typeface="Anantason UltraExpanded Bold"/>
              </a:rPr>
              <a:t>APPRENTISSAGE SUPERVISÉ : </a:t>
            </a:r>
          </a:p>
        </p:txBody>
      </p:sp>
      <p:sp>
        <p:nvSpPr>
          <p:cNvPr name="TextBox 6" id="6"/>
          <p:cNvSpPr txBox="true"/>
          <p:nvPr/>
        </p:nvSpPr>
        <p:spPr>
          <a:xfrm rot="0">
            <a:off x="4922520" y="3147800"/>
            <a:ext cx="8771401" cy="912630"/>
          </a:xfrm>
          <a:prstGeom prst="rect">
            <a:avLst/>
          </a:prstGeom>
        </p:spPr>
        <p:txBody>
          <a:bodyPr anchor="t" rtlCol="false" tIns="0" lIns="0" bIns="0" rIns="0">
            <a:spAutoFit/>
          </a:bodyPr>
          <a:lstStyle/>
          <a:p>
            <a:pPr algn="r">
              <a:lnSpc>
                <a:spcPts val="6960"/>
              </a:lnSpc>
            </a:pPr>
            <a:r>
              <a:rPr lang="en-US" b="true" sz="6566">
                <a:solidFill>
                  <a:srgbClr val="FFFFFF"/>
                </a:solidFill>
                <a:latin typeface="Anantason UltraExpanded Bold"/>
                <a:ea typeface="Anantason UltraExpanded Bold"/>
                <a:cs typeface="Anantason UltraExpanded Bold"/>
                <a:sym typeface="Anantason UltraExpanded Bold"/>
              </a:rPr>
              <a:t>CLASSIFICATION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028700" y="1427035"/>
            <a:ext cx="16230600" cy="7831264"/>
          </a:xfrm>
          <a:custGeom>
            <a:avLst/>
            <a:gdLst/>
            <a:ahLst/>
            <a:cxnLst/>
            <a:rect r="r" b="b" t="t" l="l"/>
            <a:pathLst>
              <a:path h="7831264" w="16230600">
                <a:moveTo>
                  <a:pt x="0" y="0"/>
                </a:moveTo>
                <a:lnTo>
                  <a:pt x="16230600" y="0"/>
                </a:lnTo>
                <a:lnTo>
                  <a:pt x="16230600" y="7831265"/>
                </a:lnTo>
                <a:lnTo>
                  <a:pt x="0" y="7831265"/>
                </a:lnTo>
                <a:lnTo>
                  <a:pt x="0" y="0"/>
                </a:lnTo>
                <a:close/>
              </a:path>
            </a:pathLst>
          </a:custGeom>
          <a:blipFill>
            <a:blip r:embed="rId3"/>
            <a:stretch>
              <a:fillRect l="0" t="0" r="0" b="0"/>
            </a:stretch>
          </a:blipFill>
        </p:spPr>
      </p:sp>
      <p:sp>
        <p:nvSpPr>
          <p:cNvPr name="Freeform 4" id="4"/>
          <p:cNvSpPr/>
          <p:nvPr/>
        </p:nvSpPr>
        <p:spPr>
          <a:xfrm flipH="false" flipV="false" rot="0">
            <a:off x="6755259" y="4162688"/>
            <a:ext cx="4777482" cy="4527051"/>
          </a:xfrm>
          <a:custGeom>
            <a:avLst/>
            <a:gdLst/>
            <a:ahLst/>
            <a:cxnLst/>
            <a:rect r="r" b="b" t="t" l="l"/>
            <a:pathLst>
              <a:path h="4527051" w="4777482">
                <a:moveTo>
                  <a:pt x="0" y="0"/>
                </a:moveTo>
                <a:lnTo>
                  <a:pt x="4777482" y="0"/>
                </a:lnTo>
                <a:lnTo>
                  <a:pt x="4777482" y="4527051"/>
                </a:lnTo>
                <a:lnTo>
                  <a:pt x="0" y="4527051"/>
                </a:lnTo>
                <a:lnTo>
                  <a:pt x="0" y="0"/>
                </a:lnTo>
                <a:close/>
              </a:path>
            </a:pathLst>
          </a:custGeom>
          <a:blipFill>
            <a:blip r:embed="rId4"/>
            <a:stretch>
              <a:fillRect l="-189" t="0" r="-189" b="0"/>
            </a:stretch>
          </a:blipFill>
        </p:spPr>
      </p:sp>
      <p:sp>
        <p:nvSpPr>
          <p:cNvPr name="TextBox 5" id="5"/>
          <p:cNvSpPr txBox="true"/>
          <p:nvPr/>
        </p:nvSpPr>
        <p:spPr>
          <a:xfrm rot="0">
            <a:off x="1568472" y="1952372"/>
            <a:ext cx="15479497" cy="912630"/>
          </a:xfrm>
          <a:prstGeom prst="rect">
            <a:avLst/>
          </a:prstGeom>
        </p:spPr>
        <p:txBody>
          <a:bodyPr anchor="t" rtlCol="false" tIns="0" lIns="0" bIns="0" rIns="0">
            <a:spAutoFit/>
          </a:bodyPr>
          <a:lstStyle/>
          <a:p>
            <a:pPr algn="r">
              <a:lnSpc>
                <a:spcPts val="6960"/>
              </a:lnSpc>
            </a:pPr>
            <a:r>
              <a:rPr lang="en-US" b="true" sz="6566">
                <a:solidFill>
                  <a:srgbClr val="8EBFF5"/>
                </a:solidFill>
                <a:latin typeface="Anantason UltraExpanded Bold"/>
                <a:ea typeface="Anantason UltraExpanded Bold"/>
                <a:cs typeface="Anantason UltraExpanded Bold"/>
                <a:sym typeface="Anantason UltraExpanded Bold"/>
              </a:rPr>
              <a:t>APPRENTISSAGE SUPERVISÉ : </a:t>
            </a:r>
          </a:p>
        </p:txBody>
      </p:sp>
      <p:sp>
        <p:nvSpPr>
          <p:cNvPr name="TextBox 6" id="6"/>
          <p:cNvSpPr txBox="true"/>
          <p:nvPr/>
        </p:nvSpPr>
        <p:spPr>
          <a:xfrm rot="0">
            <a:off x="5678618" y="3250057"/>
            <a:ext cx="6930764" cy="912630"/>
          </a:xfrm>
          <a:prstGeom prst="rect">
            <a:avLst/>
          </a:prstGeom>
        </p:spPr>
        <p:txBody>
          <a:bodyPr anchor="t" rtlCol="false" tIns="0" lIns="0" bIns="0" rIns="0">
            <a:spAutoFit/>
          </a:bodyPr>
          <a:lstStyle/>
          <a:p>
            <a:pPr algn="r">
              <a:lnSpc>
                <a:spcPts val="6960"/>
              </a:lnSpc>
            </a:pPr>
            <a:r>
              <a:rPr lang="en-US" b="true" sz="6566">
                <a:solidFill>
                  <a:srgbClr val="FFFFFF"/>
                </a:solidFill>
                <a:latin typeface="Anantason UltraExpanded Bold"/>
                <a:ea typeface="Anantason UltraExpanded Bold"/>
                <a:cs typeface="Anantason UltraExpanded Bold"/>
                <a:sym typeface="Anantason UltraExpanded Bold"/>
              </a:rPr>
              <a:t>REGRESSION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028700" y="1427035"/>
            <a:ext cx="16230600" cy="7831264"/>
          </a:xfrm>
          <a:custGeom>
            <a:avLst/>
            <a:gdLst/>
            <a:ahLst/>
            <a:cxnLst/>
            <a:rect r="r" b="b" t="t" l="l"/>
            <a:pathLst>
              <a:path h="7831264" w="16230600">
                <a:moveTo>
                  <a:pt x="0" y="0"/>
                </a:moveTo>
                <a:lnTo>
                  <a:pt x="16230600" y="0"/>
                </a:lnTo>
                <a:lnTo>
                  <a:pt x="16230600" y="7831265"/>
                </a:lnTo>
                <a:lnTo>
                  <a:pt x="0" y="7831265"/>
                </a:lnTo>
                <a:lnTo>
                  <a:pt x="0" y="0"/>
                </a:lnTo>
                <a:close/>
              </a:path>
            </a:pathLst>
          </a:custGeom>
          <a:blipFill>
            <a:blip r:embed="rId3"/>
            <a:stretch>
              <a:fillRect l="0" t="0" r="0" b="0"/>
            </a:stretch>
          </a:blipFill>
        </p:spPr>
      </p:sp>
      <p:sp>
        <p:nvSpPr>
          <p:cNvPr name="Freeform 4" id="4"/>
          <p:cNvSpPr/>
          <p:nvPr/>
        </p:nvSpPr>
        <p:spPr>
          <a:xfrm flipH="false" flipV="false" rot="0">
            <a:off x="1352271" y="4165254"/>
            <a:ext cx="7791729" cy="4658547"/>
          </a:xfrm>
          <a:custGeom>
            <a:avLst/>
            <a:gdLst/>
            <a:ahLst/>
            <a:cxnLst/>
            <a:rect r="r" b="b" t="t" l="l"/>
            <a:pathLst>
              <a:path h="4658547" w="7791729">
                <a:moveTo>
                  <a:pt x="0" y="0"/>
                </a:moveTo>
                <a:lnTo>
                  <a:pt x="7791729" y="0"/>
                </a:lnTo>
                <a:lnTo>
                  <a:pt x="7791729" y="4658547"/>
                </a:lnTo>
                <a:lnTo>
                  <a:pt x="0" y="4658547"/>
                </a:lnTo>
                <a:lnTo>
                  <a:pt x="0" y="0"/>
                </a:lnTo>
                <a:close/>
              </a:path>
            </a:pathLst>
          </a:custGeom>
          <a:blipFill>
            <a:blip r:embed="rId4"/>
            <a:stretch>
              <a:fillRect l="0" t="0" r="0" b="0"/>
            </a:stretch>
          </a:blipFill>
        </p:spPr>
      </p:sp>
      <p:sp>
        <p:nvSpPr>
          <p:cNvPr name="Freeform 5" id="5"/>
          <p:cNvSpPr/>
          <p:nvPr/>
        </p:nvSpPr>
        <p:spPr>
          <a:xfrm flipH="false" flipV="false" rot="0">
            <a:off x="9465015" y="4721951"/>
            <a:ext cx="7545746" cy="3545153"/>
          </a:xfrm>
          <a:custGeom>
            <a:avLst/>
            <a:gdLst/>
            <a:ahLst/>
            <a:cxnLst/>
            <a:rect r="r" b="b" t="t" l="l"/>
            <a:pathLst>
              <a:path h="3545153" w="7545746">
                <a:moveTo>
                  <a:pt x="0" y="0"/>
                </a:moveTo>
                <a:lnTo>
                  <a:pt x="7545745" y="0"/>
                </a:lnTo>
                <a:lnTo>
                  <a:pt x="7545745" y="3545153"/>
                </a:lnTo>
                <a:lnTo>
                  <a:pt x="0" y="3545153"/>
                </a:lnTo>
                <a:lnTo>
                  <a:pt x="0" y="0"/>
                </a:lnTo>
                <a:close/>
              </a:path>
            </a:pathLst>
          </a:custGeom>
          <a:blipFill>
            <a:blip r:embed="rId5"/>
            <a:stretch>
              <a:fillRect l="-3252" t="0" r="-5691" b="0"/>
            </a:stretch>
          </a:blipFill>
        </p:spPr>
      </p:sp>
      <p:sp>
        <p:nvSpPr>
          <p:cNvPr name="TextBox 6" id="6"/>
          <p:cNvSpPr txBox="true"/>
          <p:nvPr/>
        </p:nvSpPr>
        <p:spPr>
          <a:xfrm rot="0">
            <a:off x="1179893" y="1847397"/>
            <a:ext cx="16079407" cy="814063"/>
          </a:xfrm>
          <a:prstGeom prst="rect">
            <a:avLst/>
          </a:prstGeom>
        </p:spPr>
        <p:txBody>
          <a:bodyPr anchor="t" rtlCol="false" tIns="0" lIns="0" bIns="0" rIns="0">
            <a:spAutoFit/>
          </a:bodyPr>
          <a:lstStyle/>
          <a:p>
            <a:pPr algn="r">
              <a:lnSpc>
                <a:spcPts val="6207"/>
              </a:lnSpc>
            </a:pPr>
            <a:r>
              <a:rPr lang="en-US" b="true" sz="5855">
                <a:solidFill>
                  <a:srgbClr val="8EBFF5"/>
                </a:solidFill>
                <a:latin typeface="Anantason UltraExpanded Bold"/>
                <a:ea typeface="Anantason UltraExpanded Bold"/>
                <a:cs typeface="Anantason UltraExpanded Bold"/>
                <a:sym typeface="Anantason UltraExpanded Bold"/>
              </a:rPr>
              <a:t>APPRENTISSAGE NON SUPERVISÉ : </a:t>
            </a:r>
          </a:p>
        </p:txBody>
      </p:sp>
      <p:sp>
        <p:nvSpPr>
          <p:cNvPr name="TextBox 7" id="7"/>
          <p:cNvSpPr txBox="true"/>
          <p:nvPr/>
        </p:nvSpPr>
        <p:spPr>
          <a:xfrm rot="0">
            <a:off x="5761032" y="3127348"/>
            <a:ext cx="6337670" cy="912630"/>
          </a:xfrm>
          <a:prstGeom prst="rect">
            <a:avLst/>
          </a:prstGeom>
        </p:spPr>
        <p:txBody>
          <a:bodyPr anchor="t" rtlCol="false" tIns="0" lIns="0" bIns="0" rIns="0">
            <a:spAutoFit/>
          </a:bodyPr>
          <a:lstStyle/>
          <a:p>
            <a:pPr algn="r">
              <a:lnSpc>
                <a:spcPts val="6960"/>
              </a:lnSpc>
            </a:pPr>
            <a:r>
              <a:rPr lang="en-US" b="true" sz="6566">
                <a:solidFill>
                  <a:srgbClr val="FFFFFF"/>
                </a:solidFill>
                <a:latin typeface="Anantason UltraExpanded Bold"/>
                <a:ea typeface="Anantason UltraExpanded Bold"/>
                <a:cs typeface="Anantason UltraExpanded Bold"/>
                <a:sym typeface="Anantason UltraExpanded Bold"/>
              </a:rPr>
              <a:t>CLUSTRING</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028700" y="1227868"/>
            <a:ext cx="16230600" cy="7831265"/>
          </a:xfrm>
          <a:custGeom>
            <a:avLst/>
            <a:gdLst/>
            <a:ahLst/>
            <a:cxnLst/>
            <a:rect r="r" b="b" t="t" l="l"/>
            <a:pathLst>
              <a:path h="7831265" w="16230600">
                <a:moveTo>
                  <a:pt x="0" y="0"/>
                </a:moveTo>
                <a:lnTo>
                  <a:pt x="16230600" y="0"/>
                </a:lnTo>
                <a:lnTo>
                  <a:pt x="16230600" y="7831264"/>
                </a:lnTo>
                <a:lnTo>
                  <a:pt x="0" y="7831264"/>
                </a:lnTo>
                <a:lnTo>
                  <a:pt x="0" y="0"/>
                </a:lnTo>
                <a:close/>
              </a:path>
            </a:pathLst>
          </a:custGeom>
          <a:blipFill>
            <a:blip r:embed="rId3"/>
            <a:stretch>
              <a:fillRect l="0" t="0" r="0" b="0"/>
            </a:stretch>
          </a:blipFill>
        </p:spPr>
      </p:sp>
      <p:grpSp>
        <p:nvGrpSpPr>
          <p:cNvPr name="Group 4" id="4"/>
          <p:cNvGrpSpPr/>
          <p:nvPr/>
        </p:nvGrpSpPr>
        <p:grpSpPr>
          <a:xfrm rot="0">
            <a:off x="3272928" y="3287988"/>
            <a:ext cx="4577413" cy="2220356"/>
            <a:chOff x="0" y="0"/>
            <a:chExt cx="1205574" cy="584785"/>
          </a:xfrm>
        </p:grpSpPr>
        <p:sp>
          <p:nvSpPr>
            <p:cNvPr name="Freeform 5" id="5"/>
            <p:cNvSpPr/>
            <p:nvPr/>
          </p:nvSpPr>
          <p:spPr>
            <a:xfrm flipH="false" flipV="false" rot="0">
              <a:off x="0" y="0"/>
              <a:ext cx="1205574" cy="584785"/>
            </a:xfrm>
            <a:custGeom>
              <a:avLst/>
              <a:gdLst/>
              <a:ahLst/>
              <a:cxnLst/>
              <a:rect r="r" b="b" t="t" l="l"/>
              <a:pathLst>
                <a:path h="584785" w="1205574">
                  <a:moveTo>
                    <a:pt x="25370" y="0"/>
                  </a:moveTo>
                  <a:lnTo>
                    <a:pt x="1180204" y="0"/>
                  </a:lnTo>
                  <a:cubicBezTo>
                    <a:pt x="1186932" y="0"/>
                    <a:pt x="1193385" y="2673"/>
                    <a:pt x="1198143" y="7431"/>
                  </a:cubicBezTo>
                  <a:cubicBezTo>
                    <a:pt x="1202901" y="12188"/>
                    <a:pt x="1205574" y="18641"/>
                    <a:pt x="1205574" y="25370"/>
                  </a:cubicBezTo>
                  <a:lnTo>
                    <a:pt x="1205574" y="559415"/>
                  </a:lnTo>
                  <a:cubicBezTo>
                    <a:pt x="1205574" y="566144"/>
                    <a:pt x="1202901" y="572597"/>
                    <a:pt x="1198143" y="577354"/>
                  </a:cubicBezTo>
                  <a:cubicBezTo>
                    <a:pt x="1193385" y="582112"/>
                    <a:pt x="1186932" y="584785"/>
                    <a:pt x="1180204" y="584785"/>
                  </a:cubicBezTo>
                  <a:lnTo>
                    <a:pt x="25370" y="584785"/>
                  </a:lnTo>
                  <a:cubicBezTo>
                    <a:pt x="18641" y="584785"/>
                    <a:pt x="12188" y="582112"/>
                    <a:pt x="7431" y="577354"/>
                  </a:cubicBezTo>
                  <a:cubicBezTo>
                    <a:pt x="2673" y="572597"/>
                    <a:pt x="0" y="566144"/>
                    <a:pt x="0" y="559415"/>
                  </a:cubicBezTo>
                  <a:lnTo>
                    <a:pt x="0" y="25370"/>
                  </a:lnTo>
                  <a:cubicBezTo>
                    <a:pt x="0" y="18641"/>
                    <a:pt x="2673" y="12188"/>
                    <a:pt x="7431" y="7431"/>
                  </a:cubicBezTo>
                  <a:cubicBezTo>
                    <a:pt x="12188" y="2673"/>
                    <a:pt x="18641" y="0"/>
                    <a:pt x="25370" y="0"/>
                  </a:cubicBezTo>
                  <a:close/>
                </a:path>
              </a:pathLst>
            </a:custGeom>
            <a:solidFill>
              <a:srgbClr val="000000">
                <a:alpha val="0"/>
              </a:srgbClr>
            </a:solidFill>
            <a:ln w="38100" cap="sq">
              <a:solidFill>
                <a:srgbClr val="FFFFFF"/>
              </a:solidFill>
              <a:prstDash val="solid"/>
              <a:miter/>
            </a:ln>
          </p:spPr>
        </p:sp>
        <p:sp>
          <p:nvSpPr>
            <p:cNvPr name="TextBox 6" id="6"/>
            <p:cNvSpPr txBox="true"/>
            <p:nvPr/>
          </p:nvSpPr>
          <p:spPr>
            <a:xfrm>
              <a:off x="0" y="-38100"/>
              <a:ext cx="1205574" cy="622885"/>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9144000" y="3287988"/>
            <a:ext cx="4577413" cy="2220356"/>
            <a:chOff x="0" y="0"/>
            <a:chExt cx="1205574" cy="584785"/>
          </a:xfrm>
        </p:grpSpPr>
        <p:sp>
          <p:nvSpPr>
            <p:cNvPr name="Freeform 8" id="8"/>
            <p:cNvSpPr/>
            <p:nvPr/>
          </p:nvSpPr>
          <p:spPr>
            <a:xfrm flipH="false" flipV="false" rot="0">
              <a:off x="0" y="0"/>
              <a:ext cx="1205574" cy="584785"/>
            </a:xfrm>
            <a:custGeom>
              <a:avLst/>
              <a:gdLst/>
              <a:ahLst/>
              <a:cxnLst/>
              <a:rect r="r" b="b" t="t" l="l"/>
              <a:pathLst>
                <a:path h="584785" w="1205574">
                  <a:moveTo>
                    <a:pt x="25370" y="0"/>
                  </a:moveTo>
                  <a:lnTo>
                    <a:pt x="1180204" y="0"/>
                  </a:lnTo>
                  <a:cubicBezTo>
                    <a:pt x="1186932" y="0"/>
                    <a:pt x="1193385" y="2673"/>
                    <a:pt x="1198143" y="7431"/>
                  </a:cubicBezTo>
                  <a:cubicBezTo>
                    <a:pt x="1202901" y="12188"/>
                    <a:pt x="1205574" y="18641"/>
                    <a:pt x="1205574" y="25370"/>
                  </a:cubicBezTo>
                  <a:lnTo>
                    <a:pt x="1205574" y="559415"/>
                  </a:lnTo>
                  <a:cubicBezTo>
                    <a:pt x="1205574" y="566144"/>
                    <a:pt x="1202901" y="572597"/>
                    <a:pt x="1198143" y="577354"/>
                  </a:cubicBezTo>
                  <a:cubicBezTo>
                    <a:pt x="1193385" y="582112"/>
                    <a:pt x="1186932" y="584785"/>
                    <a:pt x="1180204" y="584785"/>
                  </a:cubicBezTo>
                  <a:lnTo>
                    <a:pt x="25370" y="584785"/>
                  </a:lnTo>
                  <a:cubicBezTo>
                    <a:pt x="18641" y="584785"/>
                    <a:pt x="12188" y="582112"/>
                    <a:pt x="7431" y="577354"/>
                  </a:cubicBezTo>
                  <a:cubicBezTo>
                    <a:pt x="2673" y="572597"/>
                    <a:pt x="0" y="566144"/>
                    <a:pt x="0" y="559415"/>
                  </a:cubicBezTo>
                  <a:lnTo>
                    <a:pt x="0" y="25370"/>
                  </a:lnTo>
                  <a:cubicBezTo>
                    <a:pt x="0" y="18641"/>
                    <a:pt x="2673" y="12188"/>
                    <a:pt x="7431" y="7431"/>
                  </a:cubicBezTo>
                  <a:cubicBezTo>
                    <a:pt x="12188" y="2673"/>
                    <a:pt x="18641" y="0"/>
                    <a:pt x="25370" y="0"/>
                  </a:cubicBezTo>
                  <a:close/>
                </a:path>
              </a:pathLst>
            </a:custGeom>
            <a:solidFill>
              <a:srgbClr val="000000">
                <a:alpha val="0"/>
              </a:srgbClr>
            </a:solidFill>
            <a:ln w="38100" cap="sq">
              <a:solidFill>
                <a:srgbClr val="FFFFFF"/>
              </a:solidFill>
              <a:prstDash val="solid"/>
              <a:miter/>
            </a:ln>
          </p:spPr>
        </p:sp>
        <p:sp>
          <p:nvSpPr>
            <p:cNvPr name="TextBox 9" id="9"/>
            <p:cNvSpPr txBox="true"/>
            <p:nvPr/>
          </p:nvSpPr>
          <p:spPr>
            <a:xfrm>
              <a:off x="0" y="-38100"/>
              <a:ext cx="1205574" cy="622885"/>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0580820" y="5953548"/>
            <a:ext cx="4577413" cy="2220356"/>
            <a:chOff x="0" y="0"/>
            <a:chExt cx="1205574" cy="584785"/>
          </a:xfrm>
        </p:grpSpPr>
        <p:sp>
          <p:nvSpPr>
            <p:cNvPr name="Freeform 11" id="11"/>
            <p:cNvSpPr/>
            <p:nvPr/>
          </p:nvSpPr>
          <p:spPr>
            <a:xfrm flipH="false" flipV="false" rot="0">
              <a:off x="0" y="0"/>
              <a:ext cx="1205574" cy="584785"/>
            </a:xfrm>
            <a:custGeom>
              <a:avLst/>
              <a:gdLst/>
              <a:ahLst/>
              <a:cxnLst/>
              <a:rect r="r" b="b" t="t" l="l"/>
              <a:pathLst>
                <a:path h="584785" w="1205574">
                  <a:moveTo>
                    <a:pt x="25370" y="0"/>
                  </a:moveTo>
                  <a:lnTo>
                    <a:pt x="1180204" y="0"/>
                  </a:lnTo>
                  <a:cubicBezTo>
                    <a:pt x="1186932" y="0"/>
                    <a:pt x="1193385" y="2673"/>
                    <a:pt x="1198143" y="7431"/>
                  </a:cubicBezTo>
                  <a:cubicBezTo>
                    <a:pt x="1202901" y="12188"/>
                    <a:pt x="1205574" y="18641"/>
                    <a:pt x="1205574" y="25370"/>
                  </a:cubicBezTo>
                  <a:lnTo>
                    <a:pt x="1205574" y="559415"/>
                  </a:lnTo>
                  <a:cubicBezTo>
                    <a:pt x="1205574" y="566144"/>
                    <a:pt x="1202901" y="572597"/>
                    <a:pt x="1198143" y="577354"/>
                  </a:cubicBezTo>
                  <a:cubicBezTo>
                    <a:pt x="1193385" y="582112"/>
                    <a:pt x="1186932" y="584785"/>
                    <a:pt x="1180204" y="584785"/>
                  </a:cubicBezTo>
                  <a:lnTo>
                    <a:pt x="25370" y="584785"/>
                  </a:lnTo>
                  <a:cubicBezTo>
                    <a:pt x="18641" y="584785"/>
                    <a:pt x="12188" y="582112"/>
                    <a:pt x="7431" y="577354"/>
                  </a:cubicBezTo>
                  <a:cubicBezTo>
                    <a:pt x="2673" y="572597"/>
                    <a:pt x="0" y="566144"/>
                    <a:pt x="0" y="559415"/>
                  </a:cubicBezTo>
                  <a:lnTo>
                    <a:pt x="0" y="25370"/>
                  </a:lnTo>
                  <a:cubicBezTo>
                    <a:pt x="0" y="18641"/>
                    <a:pt x="2673" y="12188"/>
                    <a:pt x="7431" y="7431"/>
                  </a:cubicBezTo>
                  <a:cubicBezTo>
                    <a:pt x="12188" y="2673"/>
                    <a:pt x="18641" y="0"/>
                    <a:pt x="25370" y="0"/>
                  </a:cubicBezTo>
                  <a:close/>
                </a:path>
              </a:pathLst>
            </a:custGeom>
            <a:solidFill>
              <a:srgbClr val="000000">
                <a:alpha val="0"/>
              </a:srgbClr>
            </a:solidFill>
            <a:ln w="38100" cap="sq">
              <a:solidFill>
                <a:srgbClr val="FFFFFF"/>
              </a:solidFill>
              <a:prstDash val="solid"/>
              <a:miter/>
            </a:ln>
          </p:spPr>
        </p:sp>
        <p:sp>
          <p:nvSpPr>
            <p:cNvPr name="TextBox 12" id="12"/>
            <p:cNvSpPr txBox="true"/>
            <p:nvPr/>
          </p:nvSpPr>
          <p:spPr>
            <a:xfrm>
              <a:off x="0" y="-38100"/>
              <a:ext cx="1205574" cy="622885"/>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477833" y="1285584"/>
            <a:ext cx="17332335" cy="1742567"/>
          </a:xfrm>
          <a:prstGeom prst="rect">
            <a:avLst/>
          </a:prstGeom>
        </p:spPr>
        <p:txBody>
          <a:bodyPr anchor="t" rtlCol="false" tIns="0" lIns="0" bIns="0" rIns="0">
            <a:spAutoFit/>
          </a:bodyPr>
          <a:lstStyle/>
          <a:p>
            <a:pPr algn="ctr">
              <a:lnSpc>
                <a:spcPts val="6783"/>
              </a:lnSpc>
            </a:pPr>
            <a:r>
              <a:rPr lang="en-US" b="true" sz="6399">
                <a:solidFill>
                  <a:srgbClr val="8EBFF5"/>
                </a:solidFill>
                <a:latin typeface="Anantason UltraExpanded Bold"/>
                <a:ea typeface="Anantason UltraExpanded Bold"/>
                <a:cs typeface="Anantason UltraExpanded Bold"/>
                <a:sym typeface="Anantason UltraExpanded Bold"/>
              </a:rPr>
              <a:t>3. DEEP LEARNING (DL) – SOUS-CATÉGORIE AVANCÉE DU ML :</a:t>
            </a:r>
          </a:p>
        </p:txBody>
      </p:sp>
      <p:sp>
        <p:nvSpPr>
          <p:cNvPr name="TextBox 14" id="14"/>
          <p:cNvSpPr txBox="true"/>
          <p:nvPr/>
        </p:nvSpPr>
        <p:spPr>
          <a:xfrm rot="0">
            <a:off x="3658871" y="4320852"/>
            <a:ext cx="3805525" cy="799395"/>
          </a:xfrm>
          <a:prstGeom prst="rect">
            <a:avLst/>
          </a:prstGeom>
        </p:spPr>
        <p:txBody>
          <a:bodyPr anchor="t" rtlCol="false" tIns="0" lIns="0" bIns="0" rIns="0">
            <a:spAutoFit/>
          </a:bodyPr>
          <a:lstStyle/>
          <a:p>
            <a:pPr algn="just">
              <a:lnSpc>
                <a:spcPts val="1597"/>
              </a:lnSpc>
            </a:pPr>
            <a:r>
              <a:rPr lang="en-US" sz="1388">
                <a:solidFill>
                  <a:srgbClr val="FFFFFF"/>
                </a:solidFill>
                <a:latin typeface="Anantason UltraExpanded"/>
                <a:ea typeface="Anantason UltraExpanded"/>
                <a:cs typeface="Anantason UltraExpanded"/>
                <a:sym typeface="Anantason UltraExpanded"/>
              </a:rPr>
              <a:t>utilisation de réseaux neuronaux profonds (multi‑couches) pour apprendre des représentations complexes .</a:t>
            </a:r>
          </a:p>
        </p:txBody>
      </p:sp>
      <p:sp>
        <p:nvSpPr>
          <p:cNvPr name="TextBox 15" id="15"/>
          <p:cNvSpPr txBox="true"/>
          <p:nvPr/>
        </p:nvSpPr>
        <p:spPr>
          <a:xfrm rot="0">
            <a:off x="3272928" y="3579887"/>
            <a:ext cx="4072866" cy="412507"/>
          </a:xfrm>
          <a:prstGeom prst="rect">
            <a:avLst/>
          </a:prstGeom>
        </p:spPr>
        <p:txBody>
          <a:bodyPr anchor="t" rtlCol="false" tIns="0" lIns="0" bIns="0" rIns="0">
            <a:spAutoFit/>
          </a:bodyPr>
          <a:lstStyle/>
          <a:p>
            <a:pPr algn="ctr">
              <a:lnSpc>
                <a:spcPts val="3227"/>
              </a:lnSpc>
            </a:pPr>
            <a:r>
              <a:rPr lang="en-US" b="true" sz="2806">
                <a:solidFill>
                  <a:srgbClr val="FFFFFF"/>
                </a:solidFill>
                <a:latin typeface="Anantason UltraExpanded Bold"/>
                <a:ea typeface="Anantason UltraExpanded Bold"/>
                <a:cs typeface="Anantason UltraExpanded Bold"/>
                <a:sym typeface="Anantason UltraExpanded Bold"/>
              </a:rPr>
              <a:t>DEFINITION</a:t>
            </a:r>
          </a:p>
        </p:txBody>
      </p:sp>
      <p:sp>
        <p:nvSpPr>
          <p:cNvPr name="TextBox 16" id="16"/>
          <p:cNvSpPr txBox="true"/>
          <p:nvPr/>
        </p:nvSpPr>
        <p:spPr>
          <a:xfrm rot="0">
            <a:off x="9529944" y="4544130"/>
            <a:ext cx="3805525" cy="599370"/>
          </a:xfrm>
          <a:prstGeom prst="rect">
            <a:avLst/>
          </a:prstGeom>
        </p:spPr>
        <p:txBody>
          <a:bodyPr anchor="t" rtlCol="false" tIns="0" lIns="0" bIns="0" rIns="0">
            <a:spAutoFit/>
          </a:bodyPr>
          <a:lstStyle/>
          <a:p>
            <a:pPr algn="just">
              <a:lnSpc>
                <a:spcPts val="1597"/>
              </a:lnSpc>
            </a:pPr>
            <a:r>
              <a:rPr lang="en-US" sz="1388">
                <a:solidFill>
                  <a:srgbClr val="FFFFFF"/>
                </a:solidFill>
                <a:latin typeface="Anantason UltraExpanded"/>
                <a:ea typeface="Anantason UltraExpanded"/>
                <a:cs typeface="Anantason UltraExpanded"/>
                <a:sym typeface="Anantason UltraExpanded"/>
              </a:rPr>
              <a:t>Automatisation de l’extraction de caractéristiques, performances supérieures en vision, NLP, audio.</a:t>
            </a:r>
          </a:p>
        </p:txBody>
      </p:sp>
      <p:sp>
        <p:nvSpPr>
          <p:cNvPr name="TextBox 17" id="17"/>
          <p:cNvSpPr txBox="true"/>
          <p:nvPr/>
        </p:nvSpPr>
        <p:spPr>
          <a:xfrm rot="0">
            <a:off x="9262603" y="3579887"/>
            <a:ext cx="4072866" cy="412507"/>
          </a:xfrm>
          <a:prstGeom prst="rect">
            <a:avLst/>
          </a:prstGeom>
        </p:spPr>
        <p:txBody>
          <a:bodyPr anchor="t" rtlCol="false" tIns="0" lIns="0" bIns="0" rIns="0">
            <a:spAutoFit/>
          </a:bodyPr>
          <a:lstStyle/>
          <a:p>
            <a:pPr algn="ctr">
              <a:lnSpc>
                <a:spcPts val="3227"/>
              </a:lnSpc>
            </a:pPr>
            <a:r>
              <a:rPr lang="en-US" b="true" sz="2806">
                <a:solidFill>
                  <a:srgbClr val="FFFFFF"/>
                </a:solidFill>
                <a:latin typeface="Anantason UltraExpanded Bold"/>
                <a:ea typeface="Anantason UltraExpanded Bold"/>
                <a:cs typeface="Anantason UltraExpanded Bold"/>
                <a:sym typeface="Anantason UltraExpanded Bold"/>
              </a:rPr>
              <a:t>AVANTAGES </a:t>
            </a:r>
          </a:p>
        </p:txBody>
      </p:sp>
      <p:sp>
        <p:nvSpPr>
          <p:cNvPr name="TextBox 18" id="18"/>
          <p:cNvSpPr txBox="true"/>
          <p:nvPr/>
        </p:nvSpPr>
        <p:spPr>
          <a:xfrm rot="0">
            <a:off x="10966764" y="7073251"/>
            <a:ext cx="3805525" cy="799395"/>
          </a:xfrm>
          <a:prstGeom prst="rect">
            <a:avLst/>
          </a:prstGeom>
        </p:spPr>
        <p:txBody>
          <a:bodyPr anchor="t" rtlCol="false" tIns="0" lIns="0" bIns="0" rIns="0">
            <a:spAutoFit/>
          </a:bodyPr>
          <a:lstStyle/>
          <a:p>
            <a:pPr algn="just">
              <a:lnSpc>
                <a:spcPts val="1597"/>
              </a:lnSpc>
            </a:pPr>
            <a:r>
              <a:rPr lang="en-US" sz="1388">
                <a:solidFill>
                  <a:srgbClr val="FFFFFF"/>
                </a:solidFill>
                <a:latin typeface="Anantason UltraExpanded"/>
                <a:ea typeface="Anantason UltraExpanded"/>
                <a:cs typeface="Anantason UltraExpanded"/>
                <a:sym typeface="Anantason UltraExpanded"/>
              </a:rPr>
              <a:t>Besoin de données massives, puissances de calcul (GPU), manque d'explicabilité (problème du « black box »)</a:t>
            </a:r>
          </a:p>
        </p:txBody>
      </p:sp>
      <p:sp>
        <p:nvSpPr>
          <p:cNvPr name="TextBox 19" id="19"/>
          <p:cNvSpPr txBox="true"/>
          <p:nvPr/>
        </p:nvSpPr>
        <p:spPr>
          <a:xfrm rot="0">
            <a:off x="10833094" y="6251601"/>
            <a:ext cx="4072866" cy="412507"/>
          </a:xfrm>
          <a:prstGeom prst="rect">
            <a:avLst/>
          </a:prstGeom>
        </p:spPr>
        <p:txBody>
          <a:bodyPr anchor="t" rtlCol="false" tIns="0" lIns="0" bIns="0" rIns="0">
            <a:spAutoFit/>
          </a:bodyPr>
          <a:lstStyle/>
          <a:p>
            <a:pPr algn="ctr">
              <a:lnSpc>
                <a:spcPts val="3227"/>
              </a:lnSpc>
            </a:pPr>
            <a:r>
              <a:rPr lang="en-US" b="true" sz="2806">
                <a:solidFill>
                  <a:srgbClr val="FFFFFF"/>
                </a:solidFill>
                <a:latin typeface="Anantason UltraExpanded Bold"/>
                <a:ea typeface="Anantason UltraExpanded Bold"/>
                <a:cs typeface="Anantason UltraExpanded Bold"/>
                <a:sym typeface="Anantason UltraExpanded Bold"/>
              </a:rPr>
              <a:t>LIMITES </a:t>
            </a:r>
          </a:p>
        </p:txBody>
      </p:sp>
      <p:grpSp>
        <p:nvGrpSpPr>
          <p:cNvPr name="Group 20" id="20"/>
          <p:cNvGrpSpPr/>
          <p:nvPr/>
        </p:nvGrpSpPr>
        <p:grpSpPr>
          <a:xfrm rot="0">
            <a:off x="4566587" y="5953548"/>
            <a:ext cx="4577413" cy="2276343"/>
            <a:chOff x="0" y="0"/>
            <a:chExt cx="1205574" cy="599531"/>
          </a:xfrm>
        </p:grpSpPr>
        <p:sp>
          <p:nvSpPr>
            <p:cNvPr name="Freeform 21" id="21"/>
            <p:cNvSpPr/>
            <p:nvPr/>
          </p:nvSpPr>
          <p:spPr>
            <a:xfrm flipH="false" flipV="false" rot="0">
              <a:off x="0" y="0"/>
              <a:ext cx="1205574" cy="599531"/>
            </a:xfrm>
            <a:custGeom>
              <a:avLst/>
              <a:gdLst/>
              <a:ahLst/>
              <a:cxnLst/>
              <a:rect r="r" b="b" t="t" l="l"/>
              <a:pathLst>
                <a:path h="599531" w="1205574">
                  <a:moveTo>
                    <a:pt x="25370" y="0"/>
                  </a:moveTo>
                  <a:lnTo>
                    <a:pt x="1180204" y="0"/>
                  </a:lnTo>
                  <a:cubicBezTo>
                    <a:pt x="1186932" y="0"/>
                    <a:pt x="1193385" y="2673"/>
                    <a:pt x="1198143" y="7431"/>
                  </a:cubicBezTo>
                  <a:cubicBezTo>
                    <a:pt x="1202901" y="12188"/>
                    <a:pt x="1205574" y="18641"/>
                    <a:pt x="1205574" y="25370"/>
                  </a:cubicBezTo>
                  <a:lnTo>
                    <a:pt x="1205574" y="574161"/>
                  </a:lnTo>
                  <a:cubicBezTo>
                    <a:pt x="1205574" y="580889"/>
                    <a:pt x="1202901" y="587342"/>
                    <a:pt x="1198143" y="592100"/>
                  </a:cubicBezTo>
                  <a:cubicBezTo>
                    <a:pt x="1193385" y="596858"/>
                    <a:pt x="1186932" y="599531"/>
                    <a:pt x="1180204" y="599531"/>
                  </a:cubicBezTo>
                  <a:lnTo>
                    <a:pt x="25370" y="599531"/>
                  </a:lnTo>
                  <a:cubicBezTo>
                    <a:pt x="18641" y="599531"/>
                    <a:pt x="12188" y="596858"/>
                    <a:pt x="7431" y="592100"/>
                  </a:cubicBezTo>
                  <a:cubicBezTo>
                    <a:pt x="2673" y="587342"/>
                    <a:pt x="0" y="580889"/>
                    <a:pt x="0" y="574161"/>
                  </a:cubicBezTo>
                  <a:lnTo>
                    <a:pt x="0" y="25370"/>
                  </a:lnTo>
                  <a:cubicBezTo>
                    <a:pt x="0" y="18641"/>
                    <a:pt x="2673" y="12188"/>
                    <a:pt x="7431" y="7431"/>
                  </a:cubicBezTo>
                  <a:cubicBezTo>
                    <a:pt x="12188" y="2673"/>
                    <a:pt x="18641" y="0"/>
                    <a:pt x="25370" y="0"/>
                  </a:cubicBezTo>
                  <a:close/>
                </a:path>
              </a:pathLst>
            </a:custGeom>
            <a:solidFill>
              <a:srgbClr val="000000">
                <a:alpha val="0"/>
              </a:srgbClr>
            </a:solidFill>
            <a:ln w="38100" cap="sq">
              <a:solidFill>
                <a:srgbClr val="FFFFFF"/>
              </a:solidFill>
              <a:prstDash val="solid"/>
              <a:miter/>
            </a:ln>
          </p:spPr>
        </p:sp>
        <p:sp>
          <p:nvSpPr>
            <p:cNvPr name="TextBox 22" id="22"/>
            <p:cNvSpPr txBox="true"/>
            <p:nvPr/>
          </p:nvSpPr>
          <p:spPr>
            <a:xfrm>
              <a:off x="0" y="-38100"/>
              <a:ext cx="1205574" cy="637631"/>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0">
            <a:off x="4818861" y="6247509"/>
            <a:ext cx="4072866" cy="1625136"/>
          </a:xfrm>
          <a:prstGeom prst="rect">
            <a:avLst/>
          </a:prstGeom>
        </p:spPr>
        <p:txBody>
          <a:bodyPr anchor="t" rtlCol="false" tIns="0" lIns="0" bIns="0" rIns="0">
            <a:spAutoFit/>
          </a:bodyPr>
          <a:lstStyle/>
          <a:p>
            <a:pPr algn="ctr">
              <a:lnSpc>
                <a:spcPts val="3227"/>
              </a:lnSpc>
            </a:pPr>
            <a:r>
              <a:rPr lang="en-US" b="true" sz="2806">
                <a:solidFill>
                  <a:srgbClr val="FFFFFF"/>
                </a:solidFill>
                <a:latin typeface="Anantason UltraExpanded Bold"/>
                <a:ea typeface="Anantason UltraExpanded Bold"/>
                <a:cs typeface="Anantason UltraExpanded Bold"/>
                <a:sym typeface="Anantason UltraExpanded Bold"/>
              </a:rPr>
              <a:t>ARCHITECTURES PRINCIPALES </a:t>
            </a:r>
          </a:p>
          <a:p>
            <a:pPr algn="ctr">
              <a:lnSpc>
                <a:spcPts val="3227"/>
              </a:lnSpc>
            </a:pPr>
          </a:p>
          <a:p>
            <a:pPr algn="ctr">
              <a:lnSpc>
                <a:spcPts val="3227"/>
              </a:lnSpc>
            </a:pPr>
          </a:p>
        </p:txBody>
      </p:sp>
      <p:sp>
        <p:nvSpPr>
          <p:cNvPr name="TextBox 24" id="24"/>
          <p:cNvSpPr txBox="true"/>
          <p:nvPr/>
        </p:nvSpPr>
        <p:spPr>
          <a:xfrm rot="0">
            <a:off x="4952531" y="7273276"/>
            <a:ext cx="3805525" cy="599370"/>
          </a:xfrm>
          <a:prstGeom prst="rect">
            <a:avLst/>
          </a:prstGeom>
        </p:spPr>
        <p:txBody>
          <a:bodyPr anchor="t" rtlCol="false" tIns="0" lIns="0" bIns="0" rIns="0">
            <a:spAutoFit/>
          </a:bodyPr>
          <a:lstStyle/>
          <a:p>
            <a:pPr algn="just">
              <a:lnSpc>
                <a:spcPts val="1597"/>
              </a:lnSpc>
            </a:pPr>
            <a:r>
              <a:rPr lang="en-US" sz="1388">
                <a:solidFill>
                  <a:srgbClr val="FFFFFF"/>
                </a:solidFill>
                <a:latin typeface="Anantason UltraExpanded"/>
                <a:ea typeface="Anantason UltraExpanded"/>
                <a:cs typeface="Anantason UltraExpanded"/>
                <a:sym typeface="Anantason UltraExpanded"/>
              </a:rPr>
              <a:t>CNN (vision), RNN/LSTM (s�rie temporelle), Transformers (GPT, BERT), GANs (génération)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028700" y="1227868"/>
            <a:ext cx="16230600" cy="7831265"/>
          </a:xfrm>
          <a:custGeom>
            <a:avLst/>
            <a:gdLst/>
            <a:ahLst/>
            <a:cxnLst/>
            <a:rect r="r" b="b" t="t" l="l"/>
            <a:pathLst>
              <a:path h="7831265" w="16230600">
                <a:moveTo>
                  <a:pt x="0" y="0"/>
                </a:moveTo>
                <a:lnTo>
                  <a:pt x="16230600" y="0"/>
                </a:lnTo>
                <a:lnTo>
                  <a:pt x="16230600" y="7831264"/>
                </a:lnTo>
                <a:lnTo>
                  <a:pt x="0" y="7831264"/>
                </a:lnTo>
                <a:lnTo>
                  <a:pt x="0" y="0"/>
                </a:lnTo>
                <a:close/>
              </a:path>
            </a:pathLst>
          </a:custGeom>
          <a:blipFill>
            <a:blip r:embed="rId3"/>
            <a:stretch>
              <a:fillRect l="0" t="0" r="0" b="0"/>
            </a:stretch>
          </a:blipFill>
        </p:spPr>
      </p:sp>
      <p:sp>
        <p:nvSpPr>
          <p:cNvPr name="TextBox 4" id="4"/>
          <p:cNvSpPr txBox="true"/>
          <p:nvPr/>
        </p:nvSpPr>
        <p:spPr>
          <a:xfrm rot="0">
            <a:off x="6268599" y="4765894"/>
            <a:ext cx="10350212" cy="2206815"/>
          </a:xfrm>
          <a:prstGeom prst="rect">
            <a:avLst/>
          </a:prstGeom>
        </p:spPr>
        <p:txBody>
          <a:bodyPr anchor="t" rtlCol="false" tIns="0" lIns="0" bIns="0" rIns="0">
            <a:spAutoFit/>
          </a:bodyPr>
          <a:lstStyle/>
          <a:p>
            <a:pPr algn="ctr">
              <a:lnSpc>
                <a:spcPts val="16847"/>
              </a:lnSpc>
            </a:pPr>
            <a:r>
              <a:rPr lang="en-US" b="true" sz="15894">
                <a:solidFill>
                  <a:srgbClr val="8EBFF5"/>
                </a:solidFill>
                <a:latin typeface="Anantason UltraExpanded Bold"/>
                <a:ea typeface="Anantason UltraExpanded Bold"/>
                <a:cs typeface="Anantason UltraExpanded Bold"/>
                <a:sym typeface="Anantason UltraExpanded Bold"/>
              </a:rPr>
              <a:t>MERCI !!</a:t>
            </a:r>
          </a:p>
        </p:txBody>
      </p:sp>
      <p:sp>
        <p:nvSpPr>
          <p:cNvPr name="Freeform 5" id="5"/>
          <p:cNvSpPr/>
          <p:nvPr/>
        </p:nvSpPr>
        <p:spPr>
          <a:xfrm flipH="false" flipV="false" rot="0">
            <a:off x="333000" y="1227868"/>
            <a:ext cx="5935599" cy="8229600"/>
          </a:xfrm>
          <a:custGeom>
            <a:avLst/>
            <a:gdLst/>
            <a:ahLst/>
            <a:cxnLst/>
            <a:rect r="r" b="b" t="t" l="l"/>
            <a:pathLst>
              <a:path h="8229600" w="5935599">
                <a:moveTo>
                  <a:pt x="0" y="0"/>
                </a:moveTo>
                <a:lnTo>
                  <a:pt x="5935599" y="0"/>
                </a:lnTo>
                <a:lnTo>
                  <a:pt x="5935599" y="8229600"/>
                </a:lnTo>
                <a:lnTo>
                  <a:pt x="0" y="8229600"/>
                </a:lnTo>
                <a:lnTo>
                  <a:pt x="0" y="0"/>
                </a:lnTo>
                <a:close/>
              </a:path>
            </a:pathLst>
          </a:custGeom>
          <a:blipFill>
            <a:blip r:embed="rId4"/>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DAGsL5xvRVE</dc:identifier>
  <dcterms:modified xsi:type="dcterms:W3CDTF">2011-08-01T06:04:30Z</dcterms:modified>
  <cp:revision>1</cp:revision>
  <dc:title>Blue and White Modern Artificial Intelligence Presentation</dc:title>
</cp:coreProperties>
</file>