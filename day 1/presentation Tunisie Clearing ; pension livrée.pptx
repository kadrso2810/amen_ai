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Telegraf Bold" charset="1" panose="00000800000000000000"/>
      <p:regular r:id="rId21"/>
    </p:embeddedFont>
    <p:embeddedFont>
      <p:font typeface="Cheddar" charset="1" panose="00000000000000000000"/>
      <p:regular r:id="rId22"/>
    </p:embeddedFont>
    <p:embeddedFont>
      <p:font typeface="Telegraf Medium" charset="1" panose="00000600000000000000"/>
      <p:regular r:id="rId23"/>
    </p:embeddedFont>
    <p:embeddedFont>
      <p:font typeface="Telegraf" charset="1" panose="000005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5.png" Type="http://schemas.openxmlformats.org/officeDocument/2006/relationships/image"/><Relationship Id="rId4" Target="../media/image6.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Freeform 2" id="2"/>
          <p:cNvSpPr/>
          <p:nvPr/>
        </p:nvSpPr>
        <p:spPr>
          <a:xfrm flipH="false" flipV="false" rot="0">
            <a:off x="5338725" y="2584299"/>
            <a:ext cx="1260008" cy="1653948"/>
          </a:xfrm>
          <a:custGeom>
            <a:avLst/>
            <a:gdLst/>
            <a:ahLst/>
            <a:cxnLst/>
            <a:rect r="r" b="b" t="t" l="l"/>
            <a:pathLst>
              <a:path h="1653948" w="1260008">
                <a:moveTo>
                  <a:pt x="0" y="0"/>
                </a:moveTo>
                <a:lnTo>
                  <a:pt x="1260008" y="0"/>
                </a:lnTo>
                <a:lnTo>
                  <a:pt x="1260008" y="1653948"/>
                </a:lnTo>
                <a:lnTo>
                  <a:pt x="0" y="165394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8565002" y="6703463"/>
            <a:ext cx="4550946" cy="905000"/>
            <a:chOff x="0" y="0"/>
            <a:chExt cx="1146356" cy="227964"/>
          </a:xfrm>
        </p:grpSpPr>
        <p:sp>
          <p:nvSpPr>
            <p:cNvPr name="Freeform 4" id="4"/>
            <p:cNvSpPr/>
            <p:nvPr/>
          </p:nvSpPr>
          <p:spPr>
            <a:xfrm flipH="false" flipV="false" rot="0">
              <a:off x="0" y="0"/>
              <a:ext cx="1146356" cy="227964"/>
            </a:xfrm>
            <a:custGeom>
              <a:avLst/>
              <a:gdLst/>
              <a:ahLst/>
              <a:cxnLst/>
              <a:rect r="r" b="b" t="t" l="l"/>
              <a:pathLst>
                <a:path h="227964" w="1146356">
                  <a:moveTo>
                    <a:pt x="86760" y="0"/>
                  </a:moveTo>
                  <a:lnTo>
                    <a:pt x="1059596" y="0"/>
                  </a:lnTo>
                  <a:cubicBezTo>
                    <a:pt x="1107512" y="0"/>
                    <a:pt x="1146356" y="38844"/>
                    <a:pt x="1146356" y="86760"/>
                  </a:cubicBezTo>
                  <a:lnTo>
                    <a:pt x="1146356" y="141205"/>
                  </a:lnTo>
                  <a:cubicBezTo>
                    <a:pt x="1146356" y="164215"/>
                    <a:pt x="1137215" y="186282"/>
                    <a:pt x="1120945" y="202553"/>
                  </a:cubicBezTo>
                  <a:cubicBezTo>
                    <a:pt x="1104674" y="218823"/>
                    <a:pt x="1082606" y="227964"/>
                    <a:pt x="1059596" y="227964"/>
                  </a:cubicBezTo>
                  <a:lnTo>
                    <a:pt x="86760" y="227964"/>
                  </a:lnTo>
                  <a:cubicBezTo>
                    <a:pt x="38844" y="227964"/>
                    <a:pt x="0" y="189121"/>
                    <a:pt x="0" y="141205"/>
                  </a:cubicBezTo>
                  <a:lnTo>
                    <a:pt x="0" y="86760"/>
                  </a:lnTo>
                  <a:cubicBezTo>
                    <a:pt x="0" y="38844"/>
                    <a:pt x="38844" y="0"/>
                    <a:pt x="86760" y="0"/>
                  </a:cubicBezTo>
                  <a:close/>
                </a:path>
              </a:pathLst>
            </a:custGeom>
            <a:solidFill>
              <a:srgbClr val="02B676"/>
            </a:solidFill>
          </p:spPr>
        </p:sp>
        <p:sp>
          <p:nvSpPr>
            <p:cNvPr name="TextBox 5" id="5"/>
            <p:cNvSpPr txBox="true"/>
            <p:nvPr/>
          </p:nvSpPr>
          <p:spPr>
            <a:xfrm>
              <a:off x="0" y="-95250"/>
              <a:ext cx="1146356" cy="323214"/>
            </a:xfrm>
            <a:prstGeom prst="rect">
              <a:avLst/>
            </a:prstGeom>
          </p:spPr>
          <p:txBody>
            <a:bodyPr anchor="ctr" rtlCol="false" tIns="50800" lIns="50800" bIns="50800" rIns="50800"/>
            <a:lstStyle/>
            <a:p>
              <a:pPr algn="ctr">
                <a:lnSpc>
                  <a:spcPts val="4199"/>
                </a:lnSpc>
                <a:spcBef>
                  <a:spcPct val="0"/>
                </a:spcBef>
              </a:pPr>
              <a:r>
                <a:rPr lang="en-US" b="true" sz="2999">
                  <a:solidFill>
                    <a:srgbClr val="FFFFFF"/>
                  </a:solidFill>
                  <a:latin typeface="Telegraf Bold"/>
                  <a:ea typeface="Telegraf Bold"/>
                  <a:cs typeface="Telegraf Bold"/>
                  <a:sym typeface="Telegraf Bold"/>
                </a:rPr>
                <a:t>PRÉSENTÉE PAR :</a:t>
              </a:r>
            </a:p>
          </p:txBody>
        </p:sp>
      </p:grpSp>
      <p:grpSp>
        <p:nvGrpSpPr>
          <p:cNvPr name="Group 6" id="6"/>
          <p:cNvGrpSpPr/>
          <p:nvPr/>
        </p:nvGrpSpPr>
        <p:grpSpPr>
          <a:xfrm rot="0">
            <a:off x="8565002" y="7757399"/>
            <a:ext cx="4550946" cy="905000"/>
            <a:chOff x="0" y="0"/>
            <a:chExt cx="1146356" cy="227964"/>
          </a:xfrm>
        </p:grpSpPr>
        <p:sp>
          <p:nvSpPr>
            <p:cNvPr name="Freeform 7" id="7"/>
            <p:cNvSpPr/>
            <p:nvPr/>
          </p:nvSpPr>
          <p:spPr>
            <a:xfrm flipH="false" flipV="false" rot="0">
              <a:off x="0" y="0"/>
              <a:ext cx="1146356" cy="227964"/>
            </a:xfrm>
            <a:custGeom>
              <a:avLst/>
              <a:gdLst/>
              <a:ahLst/>
              <a:cxnLst/>
              <a:rect r="r" b="b" t="t" l="l"/>
              <a:pathLst>
                <a:path h="227964" w="1146356">
                  <a:moveTo>
                    <a:pt x="86760" y="0"/>
                  </a:moveTo>
                  <a:lnTo>
                    <a:pt x="1059596" y="0"/>
                  </a:lnTo>
                  <a:cubicBezTo>
                    <a:pt x="1107512" y="0"/>
                    <a:pt x="1146356" y="38844"/>
                    <a:pt x="1146356" y="86760"/>
                  </a:cubicBezTo>
                  <a:lnTo>
                    <a:pt x="1146356" y="141205"/>
                  </a:lnTo>
                  <a:cubicBezTo>
                    <a:pt x="1146356" y="164215"/>
                    <a:pt x="1137215" y="186282"/>
                    <a:pt x="1120945" y="202553"/>
                  </a:cubicBezTo>
                  <a:cubicBezTo>
                    <a:pt x="1104674" y="218823"/>
                    <a:pt x="1082606" y="227964"/>
                    <a:pt x="1059596" y="227964"/>
                  </a:cubicBezTo>
                  <a:lnTo>
                    <a:pt x="86760" y="227964"/>
                  </a:lnTo>
                  <a:cubicBezTo>
                    <a:pt x="38844" y="227964"/>
                    <a:pt x="0" y="189121"/>
                    <a:pt x="0" y="141205"/>
                  </a:cubicBezTo>
                  <a:lnTo>
                    <a:pt x="0" y="86760"/>
                  </a:lnTo>
                  <a:cubicBezTo>
                    <a:pt x="0" y="38844"/>
                    <a:pt x="38844" y="0"/>
                    <a:pt x="86760" y="0"/>
                  </a:cubicBezTo>
                  <a:close/>
                </a:path>
              </a:pathLst>
            </a:custGeom>
            <a:solidFill>
              <a:srgbClr val="F7562B"/>
            </a:solidFill>
          </p:spPr>
        </p:sp>
        <p:sp>
          <p:nvSpPr>
            <p:cNvPr name="TextBox 8" id="8"/>
            <p:cNvSpPr txBox="true"/>
            <p:nvPr/>
          </p:nvSpPr>
          <p:spPr>
            <a:xfrm>
              <a:off x="0" y="-95250"/>
              <a:ext cx="1146356" cy="323214"/>
            </a:xfrm>
            <a:prstGeom prst="rect">
              <a:avLst/>
            </a:prstGeom>
          </p:spPr>
          <p:txBody>
            <a:bodyPr anchor="ctr" rtlCol="false" tIns="50800" lIns="50800" bIns="50800" rIns="50800"/>
            <a:lstStyle/>
            <a:p>
              <a:pPr algn="ctr">
                <a:lnSpc>
                  <a:spcPts val="4199"/>
                </a:lnSpc>
                <a:spcBef>
                  <a:spcPct val="0"/>
                </a:spcBef>
              </a:pPr>
              <a:r>
                <a:rPr lang="en-US" b="true" sz="2999">
                  <a:solidFill>
                    <a:srgbClr val="FFFFFF"/>
                  </a:solidFill>
                  <a:latin typeface="Telegraf Bold"/>
                  <a:ea typeface="Telegraf Bold"/>
                  <a:cs typeface="Telegraf Bold"/>
                  <a:sym typeface="Telegraf Bold"/>
                </a:rPr>
                <a:t>AYACHI MED AZIZ</a:t>
              </a:r>
            </a:p>
          </p:txBody>
        </p:sp>
      </p:grpSp>
      <p:sp>
        <p:nvSpPr>
          <p:cNvPr name="TextBox 9" id="9"/>
          <p:cNvSpPr txBox="true"/>
          <p:nvPr/>
        </p:nvSpPr>
        <p:spPr>
          <a:xfrm rot="0">
            <a:off x="7614006" y="1485110"/>
            <a:ext cx="8919265" cy="3695699"/>
          </a:xfrm>
          <a:prstGeom prst="rect">
            <a:avLst/>
          </a:prstGeom>
        </p:spPr>
        <p:txBody>
          <a:bodyPr anchor="t" rtlCol="false" tIns="0" lIns="0" bIns="0" rIns="0">
            <a:spAutoFit/>
          </a:bodyPr>
          <a:lstStyle/>
          <a:p>
            <a:pPr algn="l">
              <a:lnSpc>
                <a:spcPts val="8999"/>
              </a:lnSpc>
            </a:pPr>
            <a:r>
              <a:rPr lang="en-US" sz="9999">
                <a:solidFill>
                  <a:srgbClr val="290606"/>
                </a:solidFill>
                <a:latin typeface="Cheddar"/>
                <a:ea typeface="Cheddar"/>
                <a:cs typeface="Cheddar"/>
                <a:sym typeface="Cheddar"/>
              </a:rPr>
              <a:t>  TUNISIE CLEARING : BULLETIN &amp; PENSION</a:t>
            </a:r>
          </a:p>
          <a:p>
            <a:pPr algn="l">
              <a:lnSpc>
                <a:spcPts val="8999"/>
              </a:lnSpc>
            </a:pPr>
            <a:r>
              <a:rPr lang="en-US" sz="9999">
                <a:solidFill>
                  <a:srgbClr val="290606"/>
                </a:solidFill>
                <a:latin typeface="Cheddar"/>
                <a:ea typeface="Cheddar"/>
                <a:cs typeface="Cheddar"/>
                <a:sym typeface="Cheddar"/>
              </a:rPr>
              <a:t>        LIVRÉE</a:t>
            </a:r>
          </a:p>
        </p:txBody>
      </p:sp>
      <p:sp>
        <p:nvSpPr>
          <p:cNvPr name="TextBox 10" id="10"/>
          <p:cNvSpPr txBox="true"/>
          <p:nvPr/>
        </p:nvSpPr>
        <p:spPr>
          <a:xfrm rot="0">
            <a:off x="8565002" y="5380834"/>
            <a:ext cx="8694298" cy="857249"/>
          </a:xfrm>
          <a:prstGeom prst="rect">
            <a:avLst/>
          </a:prstGeom>
        </p:spPr>
        <p:txBody>
          <a:bodyPr anchor="t" rtlCol="false" tIns="0" lIns="0" bIns="0" rIns="0">
            <a:spAutoFit/>
          </a:bodyPr>
          <a:lstStyle/>
          <a:p>
            <a:pPr algn="l">
              <a:lnSpc>
                <a:spcPts val="5999"/>
              </a:lnSpc>
            </a:pPr>
            <a:r>
              <a:rPr lang="en-US" sz="5999" b="true">
                <a:solidFill>
                  <a:srgbClr val="211C2D"/>
                </a:solidFill>
                <a:latin typeface="Telegraf Bold"/>
                <a:ea typeface="Telegraf Bold"/>
                <a:cs typeface="Telegraf Bold"/>
                <a:sym typeface="Telegraf Bold"/>
              </a:rPr>
              <a:t>PRESENTATION</a:t>
            </a:r>
          </a:p>
        </p:txBody>
      </p:sp>
      <p:sp>
        <p:nvSpPr>
          <p:cNvPr name="Freeform 11" id="11"/>
          <p:cNvSpPr/>
          <p:nvPr/>
        </p:nvSpPr>
        <p:spPr>
          <a:xfrm flipH="false" flipV="false" rot="0">
            <a:off x="14648909" y="307145"/>
            <a:ext cx="3250652" cy="1300261"/>
          </a:xfrm>
          <a:custGeom>
            <a:avLst/>
            <a:gdLst/>
            <a:ahLst/>
            <a:cxnLst/>
            <a:rect r="r" b="b" t="t" l="l"/>
            <a:pathLst>
              <a:path h="1300261" w="3250652">
                <a:moveTo>
                  <a:pt x="0" y="0"/>
                </a:moveTo>
                <a:lnTo>
                  <a:pt x="3250652" y="0"/>
                </a:lnTo>
                <a:lnTo>
                  <a:pt x="3250652" y="1300261"/>
                </a:lnTo>
                <a:lnTo>
                  <a:pt x="0" y="1300261"/>
                </a:lnTo>
                <a:lnTo>
                  <a:pt x="0" y="0"/>
                </a:lnTo>
                <a:close/>
              </a:path>
            </a:pathLst>
          </a:custGeom>
          <a:blipFill>
            <a:blip r:embed="rId4"/>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8759043" y="2227810"/>
            <a:ext cx="8336645" cy="6182360"/>
          </a:xfrm>
          <a:prstGeom prst="rect">
            <a:avLst/>
          </a:prstGeom>
        </p:spPr>
        <p:txBody>
          <a:bodyPr anchor="t" rtlCol="false" tIns="0" lIns="0" bIns="0" rIns="0">
            <a:spAutoFit/>
          </a:bodyPr>
          <a:lstStyle/>
          <a:p>
            <a:pPr algn="l">
              <a:lnSpc>
                <a:spcPts val="4479"/>
              </a:lnSpc>
            </a:pPr>
            <a:r>
              <a:rPr lang="en-US" sz="2799" b="true">
                <a:solidFill>
                  <a:srgbClr val="290606"/>
                </a:solidFill>
                <a:latin typeface="Telegraf Medium"/>
                <a:ea typeface="Telegraf Medium"/>
                <a:cs typeface="Telegraf Medium"/>
                <a:sym typeface="Telegraf Medium"/>
              </a:rPr>
              <a:t>1. Définition de Tunisie Clearing </a:t>
            </a:r>
          </a:p>
          <a:p>
            <a:pPr algn="l">
              <a:lnSpc>
                <a:spcPts val="4479"/>
              </a:lnSpc>
            </a:pPr>
            <a:r>
              <a:rPr lang="en-US" sz="2799" b="true">
                <a:solidFill>
                  <a:srgbClr val="290606"/>
                </a:solidFill>
                <a:latin typeface="Telegraf Medium"/>
                <a:ea typeface="Telegraf Medium"/>
                <a:cs typeface="Telegraf Medium"/>
                <a:sym typeface="Telegraf Medium"/>
              </a:rPr>
              <a:t>2. Objectifs de Tunisie Clearing</a:t>
            </a:r>
          </a:p>
          <a:p>
            <a:pPr algn="l">
              <a:lnSpc>
                <a:spcPts val="4479"/>
              </a:lnSpc>
            </a:pPr>
            <a:r>
              <a:rPr lang="en-US" sz="2799" b="true">
                <a:solidFill>
                  <a:srgbClr val="290606"/>
                </a:solidFill>
                <a:latin typeface="Telegraf Medium"/>
                <a:ea typeface="Telegraf Medium"/>
                <a:cs typeface="Telegraf Medium"/>
                <a:sym typeface="Telegraf Medium"/>
              </a:rPr>
              <a:t>3. Fonctionnement de Tunisie Clearing</a:t>
            </a:r>
          </a:p>
          <a:p>
            <a:pPr algn="l">
              <a:lnSpc>
                <a:spcPts val="4479"/>
              </a:lnSpc>
            </a:pPr>
            <a:r>
              <a:rPr lang="en-US" sz="2799" b="true">
                <a:solidFill>
                  <a:srgbClr val="290606"/>
                </a:solidFill>
                <a:latin typeface="Telegraf Medium"/>
                <a:ea typeface="Telegraf Medium"/>
                <a:cs typeface="Telegraf Medium"/>
                <a:sym typeface="Telegraf Medium"/>
              </a:rPr>
              <a:t>4. Importance pour le système financier tunisien</a:t>
            </a:r>
          </a:p>
          <a:p>
            <a:pPr algn="l">
              <a:lnSpc>
                <a:spcPts val="4479"/>
              </a:lnSpc>
            </a:pPr>
            <a:r>
              <a:rPr lang="en-US" sz="2799" b="true">
                <a:solidFill>
                  <a:srgbClr val="290606"/>
                </a:solidFill>
                <a:latin typeface="Telegraf Medium"/>
                <a:ea typeface="Telegraf Medium"/>
                <a:cs typeface="Telegraf Medium"/>
                <a:sym typeface="Telegraf Medium"/>
              </a:rPr>
              <a:t>5. Objectif du Bulletin Quotidien des Activités</a:t>
            </a:r>
          </a:p>
          <a:p>
            <a:pPr algn="l">
              <a:lnSpc>
                <a:spcPts val="4479"/>
              </a:lnSpc>
            </a:pPr>
            <a:r>
              <a:rPr lang="en-US" sz="2799" b="true">
                <a:solidFill>
                  <a:srgbClr val="290606"/>
                </a:solidFill>
                <a:latin typeface="Telegraf Medium"/>
                <a:ea typeface="Telegraf Medium"/>
                <a:cs typeface="Telegraf Medium"/>
                <a:sym typeface="Telegraf Medium"/>
              </a:rPr>
              <a:t>6. Structure générale du bulletin</a:t>
            </a:r>
          </a:p>
          <a:p>
            <a:pPr algn="l">
              <a:lnSpc>
                <a:spcPts val="4479"/>
              </a:lnSpc>
            </a:pPr>
            <a:r>
              <a:rPr lang="en-US" sz="2799" b="true">
                <a:solidFill>
                  <a:srgbClr val="290606"/>
                </a:solidFill>
                <a:latin typeface="Telegraf Medium"/>
                <a:ea typeface="Telegraf Medium"/>
                <a:cs typeface="Telegraf Medium"/>
                <a:sym typeface="Telegraf Medium"/>
              </a:rPr>
              <a:t>7. Utilité du bulletin</a:t>
            </a:r>
          </a:p>
          <a:p>
            <a:pPr algn="l">
              <a:lnSpc>
                <a:spcPts val="4479"/>
              </a:lnSpc>
            </a:pPr>
            <a:r>
              <a:rPr lang="en-US" sz="2799" b="true">
                <a:solidFill>
                  <a:srgbClr val="290606"/>
                </a:solidFill>
                <a:latin typeface="Telegraf Medium"/>
                <a:ea typeface="Telegraf Medium"/>
                <a:cs typeface="Telegraf Medium"/>
                <a:sym typeface="Telegraf Medium"/>
              </a:rPr>
              <a:t>8. Qu’est-ce qu’une « Pension Livrée »</a:t>
            </a:r>
          </a:p>
          <a:p>
            <a:pPr algn="l">
              <a:lnSpc>
                <a:spcPts val="4479"/>
              </a:lnSpc>
            </a:pPr>
            <a:r>
              <a:rPr lang="en-US" sz="2799" b="true">
                <a:solidFill>
                  <a:srgbClr val="290606"/>
                </a:solidFill>
                <a:latin typeface="Telegraf Medium"/>
                <a:ea typeface="Telegraf Medium"/>
                <a:cs typeface="Telegraf Medium"/>
                <a:sym typeface="Telegraf Medium"/>
              </a:rPr>
              <a:t>9. Sections du bulletin « Pension Livrée »</a:t>
            </a:r>
          </a:p>
          <a:p>
            <a:pPr algn="l">
              <a:lnSpc>
                <a:spcPts val="4479"/>
              </a:lnSpc>
            </a:pPr>
            <a:r>
              <a:rPr lang="en-US" sz="2799" b="true">
                <a:solidFill>
                  <a:srgbClr val="290606"/>
                </a:solidFill>
                <a:latin typeface="Telegraf Medium"/>
                <a:ea typeface="Telegraf Medium"/>
                <a:cs typeface="Telegraf Medium"/>
                <a:sym typeface="Telegraf Medium"/>
              </a:rPr>
              <a:t>10. Pourquoi c’est important </a:t>
            </a:r>
          </a:p>
          <a:p>
            <a:pPr algn="l">
              <a:lnSpc>
                <a:spcPts val="4479"/>
              </a:lnSpc>
            </a:pPr>
            <a:r>
              <a:rPr lang="en-US" sz="2799" b="true">
                <a:solidFill>
                  <a:srgbClr val="290606"/>
                </a:solidFill>
                <a:latin typeface="Telegraf Medium"/>
                <a:ea typeface="Telegraf Medium"/>
                <a:cs typeface="Telegraf Medium"/>
                <a:sym typeface="Telegraf Medium"/>
              </a:rPr>
              <a:t>11. Conclusion</a:t>
            </a:r>
          </a:p>
        </p:txBody>
      </p:sp>
      <p:sp>
        <p:nvSpPr>
          <p:cNvPr name="TextBox 3" id="3"/>
          <p:cNvSpPr txBox="true"/>
          <p:nvPr/>
        </p:nvSpPr>
        <p:spPr>
          <a:xfrm rot="0">
            <a:off x="8954972" y="1019175"/>
            <a:ext cx="8304328" cy="1073150"/>
          </a:xfrm>
          <a:prstGeom prst="rect">
            <a:avLst/>
          </a:prstGeom>
        </p:spPr>
        <p:txBody>
          <a:bodyPr anchor="t" rtlCol="false" tIns="0" lIns="0" bIns="0" rIns="0">
            <a:spAutoFit/>
          </a:bodyPr>
          <a:lstStyle/>
          <a:p>
            <a:pPr algn="just">
              <a:lnSpc>
                <a:spcPts val="6999"/>
              </a:lnSpc>
            </a:pPr>
            <a:r>
              <a:rPr lang="en-US" sz="6999" spc="342">
                <a:solidFill>
                  <a:srgbClr val="290606"/>
                </a:solidFill>
                <a:latin typeface="Cheddar"/>
                <a:ea typeface="Cheddar"/>
                <a:cs typeface="Cheddar"/>
                <a:sym typeface="Cheddar"/>
              </a:rPr>
              <a:t>SOMMAIRE:</a:t>
            </a:r>
          </a:p>
        </p:txBody>
      </p:sp>
      <p:sp>
        <p:nvSpPr>
          <p:cNvPr name="Freeform 4" id="4"/>
          <p:cNvSpPr/>
          <p:nvPr/>
        </p:nvSpPr>
        <p:spPr>
          <a:xfrm flipH="false" flipV="false" rot="0">
            <a:off x="14785728" y="-6982"/>
            <a:ext cx="3250652" cy="1300261"/>
          </a:xfrm>
          <a:custGeom>
            <a:avLst/>
            <a:gdLst/>
            <a:ahLst/>
            <a:cxnLst/>
            <a:rect r="r" b="b" t="t" l="l"/>
            <a:pathLst>
              <a:path h="1300261" w="3250652">
                <a:moveTo>
                  <a:pt x="0" y="0"/>
                </a:moveTo>
                <a:lnTo>
                  <a:pt x="3250652" y="0"/>
                </a:lnTo>
                <a:lnTo>
                  <a:pt x="3250652" y="1300260"/>
                </a:lnTo>
                <a:lnTo>
                  <a:pt x="0" y="1300260"/>
                </a:lnTo>
                <a:lnTo>
                  <a:pt x="0" y="0"/>
                </a:lnTo>
                <a:close/>
              </a:path>
            </a:pathLst>
          </a:custGeom>
          <a:blipFill>
            <a:blip r:embed="rId2"/>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Freeform 2" id="2"/>
          <p:cNvSpPr/>
          <p:nvPr/>
        </p:nvSpPr>
        <p:spPr>
          <a:xfrm flipH="false" flipV="false" rot="0">
            <a:off x="14785728" y="-6982"/>
            <a:ext cx="3250652" cy="1300261"/>
          </a:xfrm>
          <a:custGeom>
            <a:avLst/>
            <a:gdLst/>
            <a:ahLst/>
            <a:cxnLst/>
            <a:rect r="r" b="b" t="t" l="l"/>
            <a:pathLst>
              <a:path h="1300261" w="3250652">
                <a:moveTo>
                  <a:pt x="0" y="0"/>
                </a:moveTo>
                <a:lnTo>
                  <a:pt x="3250652" y="0"/>
                </a:lnTo>
                <a:lnTo>
                  <a:pt x="3250652" y="1300260"/>
                </a:lnTo>
                <a:lnTo>
                  <a:pt x="0" y="1300260"/>
                </a:lnTo>
                <a:lnTo>
                  <a:pt x="0" y="0"/>
                </a:lnTo>
                <a:close/>
              </a:path>
            </a:pathLst>
          </a:custGeom>
          <a:blipFill>
            <a:blip r:embed="rId2"/>
            <a:stretch>
              <a:fillRect l="0" t="0" r="0" b="0"/>
            </a:stretch>
          </a:blipFill>
        </p:spPr>
      </p:sp>
      <p:sp>
        <p:nvSpPr>
          <p:cNvPr name="Freeform 3" id="3"/>
          <p:cNvSpPr/>
          <p:nvPr/>
        </p:nvSpPr>
        <p:spPr>
          <a:xfrm flipH="false" flipV="false" rot="0">
            <a:off x="5743158" y="6326321"/>
            <a:ext cx="3892923" cy="3367810"/>
          </a:xfrm>
          <a:custGeom>
            <a:avLst/>
            <a:gdLst/>
            <a:ahLst/>
            <a:cxnLst/>
            <a:rect r="r" b="b" t="t" l="l"/>
            <a:pathLst>
              <a:path h="3367810" w="3892923">
                <a:moveTo>
                  <a:pt x="0" y="0"/>
                </a:moveTo>
                <a:lnTo>
                  <a:pt x="3892923" y="0"/>
                </a:lnTo>
                <a:lnTo>
                  <a:pt x="3892923" y="3367810"/>
                </a:lnTo>
                <a:lnTo>
                  <a:pt x="0" y="3367810"/>
                </a:lnTo>
                <a:lnTo>
                  <a:pt x="0" y="0"/>
                </a:lnTo>
                <a:close/>
              </a:path>
            </a:pathLst>
          </a:custGeom>
          <a:blipFill>
            <a:blip r:embed="rId3"/>
            <a:stretch>
              <a:fillRect l="0" t="0" r="-2496" b="0"/>
            </a:stretch>
          </a:blipFill>
        </p:spPr>
      </p:sp>
      <p:sp>
        <p:nvSpPr>
          <p:cNvPr name="TextBox 4" id="4"/>
          <p:cNvSpPr txBox="true"/>
          <p:nvPr/>
        </p:nvSpPr>
        <p:spPr>
          <a:xfrm rot="0">
            <a:off x="1253667" y="1019175"/>
            <a:ext cx="11259259"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DEFINITION DE TUNISIECLEARING :</a:t>
            </a:r>
          </a:p>
        </p:txBody>
      </p:sp>
      <p:sp>
        <p:nvSpPr>
          <p:cNvPr name="TextBox 5" id="5"/>
          <p:cNvSpPr txBox="true"/>
          <p:nvPr/>
        </p:nvSpPr>
        <p:spPr>
          <a:xfrm rot="0">
            <a:off x="506354" y="2470244"/>
            <a:ext cx="12200284" cy="3913301"/>
          </a:xfrm>
          <a:prstGeom prst="rect">
            <a:avLst/>
          </a:prstGeom>
        </p:spPr>
        <p:txBody>
          <a:bodyPr anchor="t" rtlCol="false" tIns="0" lIns="0" bIns="0" rIns="0">
            <a:spAutoFit/>
          </a:bodyPr>
          <a:lstStyle/>
          <a:p>
            <a:pPr algn="l">
              <a:lnSpc>
                <a:spcPts val="3814"/>
              </a:lnSpc>
            </a:pPr>
            <a:r>
              <a:rPr lang="en-US" sz="3178" spc="155">
                <a:solidFill>
                  <a:srgbClr val="290606"/>
                </a:solidFill>
                <a:latin typeface="Telegraf"/>
                <a:ea typeface="Telegraf"/>
                <a:cs typeface="Telegraf"/>
                <a:sym typeface="Telegraf"/>
              </a:rPr>
              <a:t>Chambre de compensation et dépositaire central de titres en Tunisie, créée en décembre 1993 (sous le nom STICODEVAM) et renommée Tunisie Clearing en 2014 </a:t>
            </a:r>
          </a:p>
          <a:p>
            <a:pPr algn="l">
              <a:lnSpc>
                <a:spcPts val="3814"/>
              </a:lnSpc>
            </a:pPr>
            <a:r>
              <a:rPr lang="en-US" sz="3178" spc="155">
                <a:solidFill>
                  <a:srgbClr val="290606"/>
                </a:solidFill>
                <a:latin typeface="Telegraf"/>
                <a:ea typeface="Telegraf"/>
                <a:cs typeface="Telegraf"/>
                <a:sym typeface="Telegraf"/>
              </a:rPr>
              <a:t>Elle sert d’intermédiaire entre les banques et institutions financières pour centraliser, compenser et régler les paiements électroniques (chèques, virements, cartes…) ainsi que la conservation et livraison des valeurs mobilières .</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1475914" y="1283753"/>
            <a:ext cx="12430569"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2. OBJECTIFS DE TUNISIE CLEARING :</a:t>
            </a:r>
          </a:p>
        </p:txBody>
      </p:sp>
      <p:sp>
        <p:nvSpPr>
          <p:cNvPr name="TextBox 3" id="3"/>
          <p:cNvSpPr txBox="true"/>
          <p:nvPr/>
        </p:nvSpPr>
        <p:spPr>
          <a:xfrm rot="0">
            <a:off x="2046843" y="3214213"/>
            <a:ext cx="9010540" cy="5575917"/>
          </a:xfrm>
          <a:prstGeom prst="rect">
            <a:avLst/>
          </a:prstGeom>
        </p:spPr>
        <p:txBody>
          <a:bodyPr anchor="t" rtlCol="false" tIns="0" lIns="0" bIns="0" rIns="0">
            <a:spAutoFit/>
          </a:bodyPr>
          <a:lstStyle/>
          <a:p>
            <a:pPr algn="l" marL="654895" indent="-327448" lvl="1">
              <a:lnSpc>
                <a:spcPts val="3639"/>
              </a:lnSpc>
              <a:buFont typeface="Arial"/>
              <a:buChar char="•"/>
            </a:pPr>
            <a:r>
              <a:rPr lang="en-US" sz="3033" spc="148">
                <a:solidFill>
                  <a:srgbClr val="290606"/>
                </a:solidFill>
                <a:latin typeface="Telegraf"/>
                <a:ea typeface="Telegraf"/>
                <a:cs typeface="Telegraf"/>
                <a:sym typeface="Telegraf"/>
              </a:rPr>
              <a:t>Sécuriser les fonds centralisés via des infrastructures fiables.</a:t>
            </a:r>
          </a:p>
          <a:p>
            <a:pPr algn="l" marL="654895" indent="-327448" lvl="1">
              <a:lnSpc>
                <a:spcPts val="3639"/>
              </a:lnSpc>
              <a:buFont typeface="Arial"/>
              <a:buChar char="•"/>
            </a:pPr>
            <a:r>
              <a:rPr lang="en-US" sz="3033" spc="148">
                <a:solidFill>
                  <a:srgbClr val="290606"/>
                </a:solidFill>
                <a:latin typeface="Telegraf"/>
                <a:ea typeface="Telegraf"/>
                <a:cs typeface="Telegraf"/>
                <a:sym typeface="Telegraf"/>
              </a:rPr>
              <a:t>Compensation et règlement des transactions selon le principe de position nette (LCP), en appliquant les meilleures pratiques internationales.</a:t>
            </a:r>
          </a:p>
          <a:p>
            <a:pPr algn="l" marL="654895" indent="-327448" lvl="1">
              <a:lnSpc>
                <a:spcPts val="3639"/>
              </a:lnSpc>
              <a:buFont typeface="Arial"/>
              <a:buChar char="•"/>
            </a:pPr>
            <a:r>
              <a:rPr lang="en-US" sz="3033" spc="148">
                <a:solidFill>
                  <a:srgbClr val="290606"/>
                </a:solidFill>
                <a:latin typeface="Telegraf"/>
                <a:ea typeface="Telegraf"/>
                <a:cs typeface="Telegraf"/>
                <a:sym typeface="Telegraf"/>
              </a:rPr>
              <a:t>Réduire les risques liés aux opérations de paiement ou livraison entre contreparties.</a:t>
            </a:r>
          </a:p>
          <a:p>
            <a:pPr algn="l" marL="654895" indent="-327448" lvl="1">
              <a:lnSpc>
                <a:spcPts val="3639"/>
              </a:lnSpc>
              <a:buFont typeface="Arial"/>
              <a:buChar char="•"/>
            </a:pPr>
            <a:r>
              <a:rPr lang="en-US" sz="3033" spc="148">
                <a:solidFill>
                  <a:srgbClr val="290606"/>
                </a:solidFill>
                <a:latin typeface="Telegraf"/>
                <a:ea typeface="Telegraf"/>
                <a:cs typeface="Telegraf"/>
                <a:sym typeface="Telegraf"/>
              </a:rPr>
              <a:t>Appliquer des standards mondiaux, assurer l’intégrité, la transparence et l’innovation dans les paiements</a:t>
            </a:r>
          </a:p>
          <a:p>
            <a:pPr algn="l">
              <a:lnSpc>
                <a:spcPts val="3639"/>
              </a:lnSpc>
            </a:pPr>
          </a:p>
        </p:txBody>
      </p:sp>
      <p:sp>
        <p:nvSpPr>
          <p:cNvPr name="Freeform 4" id="4"/>
          <p:cNvSpPr/>
          <p:nvPr/>
        </p:nvSpPr>
        <p:spPr>
          <a:xfrm flipH="false" flipV="false" rot="0">
            <a:off x="14785728" y="-6982"/>
            <a:ext cx="3250652" cy="1300261"/>
          </a:xfrm>
          <a:custGeom>
            <a:avLst/>
            <a:gdLst/>
            <a:ahLst/>
            <a:cxnLst/>
            <a:rect r="r" b="b" t="t" l="l"/>
            <a:pathLst>
              <a:path h="1300261" w="3250652">
                <a:moveTo>
                  <a:pt x="0" y="0"/>
                </a:moveTo>
                <a:lnTo>
                  <a:pt x="3250652" y="0"/>
                </a:lnTo>
                <a:lnTo>
                  <a:pt x="3250652" y="1300260"/>
                </a:lnTo>
                <a:lnTo>
                  <a:pt x="0" y="1300260"/>
                </a:lnTo>
                <a:lnTo>
                  <a:pt x="0" y="0"/>
                </a:lnTo>
                <a:close/>
              </a:path>
            </a:pathLst>
          </a:custGeom>
          <a:blipFill>
            <a:blip r:embed="rId2"/>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grpSp>
        <p:nvGrpSpPr>
          <p:cNvPr name="Group 2" id="2"/>
          <p:cNvGrpSpPr/>
          <p:nvPr/>
        </p:nvGrpSpPr>
        <p:grpSpPr>
          <a:xfrm rot="0">
            <a:off x="258746" y="1174960"/>
            <a:ext cx="10777488" cy="1235964"/>
            <a:chOff x="0" y="0"/>
            <a:chExt cx="2838515" cy="325521"/>
          </a:xfrm>
        </p:grpSpPr>
        <p:sp>
          <p:nvSpPr>
            <p:cNvPr name="Freeform 3" id="3"/>
            <p:cNvSpPr/>
            <p:nvPr/>
          </p:nvSpPr>
          <p:spPr>
            <a:xfrm flipH="false" flipV="false" rot="0">
              <a:off x="0" y="0"/>
              <a:ext cx="2838515" cy="325521"/>
            </a:xfrm>
            <a:custGeom>
              <a:avLst/>
              <a:gdLst/>
              <a:ahLst/>
              <a:cxnLst/>
              <a:rect r="r" b="b" t="t" l="l"/>
              <a:pathLst>
                <a:path h="325521" w="2838515">
                  <a:moveTo>
                    <a:pt x="36635" y="0"/>
                  </a:moveTo>
                  <a:lnTo>
                    <a:pt x="2801880" y="0"/>
                  </a:lnTo>
                  <a:cubicBezTo>
                    <a:pt x="2822113" y="0"/>
                    <a:pt x="2838515" y="16402"/>
                    <a:pt x="2838515" y="36635"/>
                  </a:cubicBezTo>
                  <a:lnTo>
                    <a:pt x="2838515" y="288886"/>
                  </a:lnTo>
                  <a:cubicBezTo>
                    <a:pt x="2838515" y="298602"/>
                    <a:pt x="2834655" y="307921"/>
                    <a:pt x="2827785" y="314791"/>
                  </a:cubicBezTo>
                  <a:cubicBezTo>
                    <a:pt x="2820915" y="321662"/>
                    <a:pt x="2811596" y="325521"/>
                    <a:pt x="2801880" y="325521"/>
                  </a:cubicBezTo>
                  <a:lnTo>
                    <a:pt x="36635" y="325521"/>
                  </a:lnTo>
                  <a:cubicBezTo>
                    <a:pt x="16402" y="325521"/>
                    <a:pt x="0" y="309119"/>
                    <a:pt x="0" y="288886"/>
                  </a:cubicBezTo>
                  <a:lnTo>
                    <a:pt x="0" y="36635"/>
                  </a:lnTo>
                  <a:cubicBezTo>
                    <a:pt x="0" y="16402"/>
                    <a:pt x="16402" y="0"/>
                    <a:pt x="36635" y="0"/>
                  </a:cubicBezTo>
                  <a:close/>
                </a:path>
              </a:pathLst>
            </a:custGeom>
            <a:solidFill>
              <a:srgbClr val="02B676"/>
            </a:solidFill>
          </p:spPr>
        </p:sp>
        <p:sp>
          <p:nvSpPr>
            <p:cNvPr name="TextBox 4" id="4"/>
            <p:cNvSpPr txBox="true"/>
            <p:nvPr/>
          </p:nvSpPr>
          <p:spPr>
            <a:xfrm>
              <a:off x="0" y="-104775"/>
              <a:ext cx="2838515" cy="430296"/>
            </a:xfrm>
            <a:prstGeom prst="rect">
              <a:avLst/>
            </a:prstGeom>
          </p:spPr>
          <p:txBody>
            <a:bodyPr anchor="ctr" rtlCol="false" tIns="50800" lIns="50800" bIns="50800" rIns="50800"/>
            <a:lstStyle/>
            <a:p>
              <a:pPr algn="ctr">
                <a:lnSpc>
                  <a:spcPts val="4200"/>
                </a:lnSpc>
              </a:pPr>
              <a:r>
                <a:rPr lang="en-US" b="true" sz="3000">
                  <a:solidFill>
                    <a:srgbClr val="FFFFFF"/>
                  </a:solidFill>
                  <a:latin typeface="Telegraf Bold"/>
                  <a:ea typeface="Telegraf Bold"/>
                  <a:cs typeface="Telegraf Bold"/>
                  <a:sym typeface="Telegraf Bold"/>
                </a:rPr>
                <a:t>Collecte quotidienne des fichiers de transactions (chèques, virements, titres, etc.).</a:t>
              </a:r>
            </a:p>
          </p:txBody>
        </p:sp>
      </p:grpSp>
      <p:grpSp>
        <p:nvGrpSpPr>
          <p:cNvPr name="Group 5" id="5"/>
          <p:cNvGrpSpPr/>
          <p:nvPr/>
        </p:nvGrpSpPr>
        <p:grpSpPr>
          <a:xfrm rot="0">
            <a:off x="258746" y="2646023"/>
            <a:ext cx="10777488" cy="1235964"/>
            <a:chOff x="0" y="0"/>
            <a:chExt cx="2838515" cy="325521"/>
          </a:xfrm>
        </p:grpSpPr>
        <p:sp>
          <p:nvSpPr>
            <p:cNvPr name="Freeform 6" id="6"/>
            <p:cNvSpPr/>
            <p:nvPr/>
          </p:nvSpPr>
          <p:spPr>
            <a:xfrm flipH="false" flipV="false" rot="0">
              <a:off x="0" y="0"/>
              <a:ext cx="2838515" cy="325521"/>
            </a:xfrm>
            <a:custGeom>
              <a:avLst/>
              <a:gdLst/>
              <a:ahLst/>
              <a:cxnLst/>
              <a:rect r="r" b="b" t="t" l="l"/>
              <a:pathLst>
                <a:path h="325521" w="2838515">
                  <a:moveTo>
                    <a:pt x="36635" y="0"/>
                  </a:moveTo>
                  <a:lnTo>
                    <a:pt x="2801880" y="0"/>
                  </a:lnTo>
                  <a:cubicBezTo>
                    <a:pt x="2822113" y="0"/>
                    <a:pt x="2838515" y="16402"/>
                    <a:pt x="2838515" y="36635"/>
                  </a:cubicBezTo>
                  <a:lnTo>
                    <a:pt x="2838515" y="288886"/>
                  </a:lnTo>
                  <a:cubicBezTo>
                    <a:pt x="2838515" y="298602"/>
                    <a:pt x="2834655" y="307921"/>
                    <a:pt x="2827785" y="314791"/>
                  </a:cubicBezTo>
                  <a:cubicBezTo>
                    <a:pt x="2820915" y="321662"/>
                    <a:pt x="2811596" y="325521"/>
                    <a:pt x="2801880" y="325521"/>
                  </a:cubicBezTo>
                  <a:lnTo>
                    <a:pt x="36635" y="325521"/>
                  </a:lnTo>
                  <a:cubicBezTo>
                    <a:pt x="16402" y="325521"/>
                    <a:pt x="0" y="309119"/>
                    <a:pt x="0" y="288886"/>
                  </a:cubicBezTo>
                  <a:lnTo>
                    <a:pt x="0" y="36635"/>
                  </a:lnTo>
                  <a:cubicBezTo>
                    <a:pt x="0" y="16402"/>
                    <a:pt x="16402" y="0"/>
                    <a:pt x="36635" y="0"/>
                  </a:cubicBezTo>
                  <a:close/>
                </a:path>
              </a:pathLst>
            </a:custGeom>
            <a:solidFill>
              <a:srgbClr val="02B676"/>
            </a:solidFill>
          </p:spPr>
        </p:sp>
        <p:sp>
          <p:nvSpPr>
            <p:cNvPr name="TextBox 7" id="7"/>
            <p:cNvSpPr txBox="true"/>
            <p:nvPr/>
          </p:nvSpPr>
          <p:spPr>
            <a:xfrm>
              <a:off x="0" y="-104775"/>
              <a:ext cx="2838515" cy="430296"/>
            </a:xfrm>
            <a:prstGeom prst="rect">
              <a:avLst/>
            </a:prstGeom>
          </p:spPr>
          <p:txBody>
            <a:bodyPr anchor="ctr" rtlCol="false" tIns="50800" lIns="50800" bIns="50800" rIns="50800"/>
            <a:lstStyle/>
            <a:p>
              <a:pPr algn="ctr">
                <a:lnSpc>
                  <a:spcPts val="4200"/>
                </a:lnSpc>
              </a:pPr>
              <a:r>
                <a:rPr lang="en-US" b="true" sz="3000">
                  <a:solidFill>
                    <a:srgbClr val="FFFFFF"/>
                  </a:solidFill>
                  <a:latin typeface="Telegraf Bold"/>
                  <a:ea typeface="Telegraf Bold"/>
                  <a:cs typeface="Telegraf Bold"/>
                  <a:sym typeface="Telegraf Bold"/>
                </a:rPr>
                <a:t>Compensation multilatérale : calcul des soldes nets de chaque participant (banque/institution).</a:t>
              </a:r>
            </a:p>
          </p:txBody>
        </p:sp>
      </p:grpSp>
      <p:grpSp>
        <p:nvGrpSpPr>
          <p:cNvPr name="Group 8" id="8"/>
          <p:cNvGrpSpPr/>
          <p:nvPr/>
        </p:nvGrpSpPr>
        <p:grpSpPr>
          <a:xfrm rot="0">
            <a:off x="258746" y="4120112"/>
            <a:ext cx="10777488" cy="1769364"/>
            <a:chOff x="0" y="0"/>
            <a:chExt cx="2838515" cy="466005"/>
          </a:xfrm>
        </p:grpSpPr>
        <p:sp>
          <p:nvSpPr>
            <p:cNvPr name="Freeform 9" id="9"/>
            <p:cNvSpPr/>
            <p:nvPr/>
          </p:nvSpPr>
          <p:spPr>
            <a:xfrm flipH="false" flipV="false" rot="0">
              <a:off x="0" y="0"/>
              <a:ext cx="2838515" cy="466005"/>
            </a:xfrm>
            <a:custGeom>
              <a:avLst/>
              <a:gdLst/>
              <a:ahLst/>
              <a:cxnLst/>
              <a:rect r="r" b="b" t="t" l="l"/>
              <a:pathLst>
                <a:path h="466005" w="2838515">
                  <a:moveTo>
                    <a:pt x="36635" y="0"/>
                  </a:moveTo>
                  <a:lnTo>
                    <a:pt x="2801880" y="0"/>
                  </a:lnTo>
                  <a:cubicBezTo>
                    <a:pt x="2822113" y="0"/>
                    <a:pt x="2838515" y="16402"/>
                    <a:pt x="2838515" y="36635"/>
                  </a:cubicBezTo>
                  <a:lnTo>
                    <a:pt x="2838515" y="429370"/>
                  </a:lnTo>
                  <a:cubicBezTo>
                    <a:pt x="2838515" y="449603"/>
                    <a:pt x="2822113" y="466005"/>
                    <a:pt x="2801880" y="466005"/>
                  </a:cubicBezTo>
                  <a:lnTo>
                    <a:pt x="36635" y="466005"/>
                  </a:lnTo>
                  <a:cubicBezTo>
                    <a:pt x="16402" y="466005"/>
                    <a:pt x="0" y="449603"/>
                    <a:pt x="0" y="429370"/>
                  </a:cubicBezTo>
                  <a:lnTo>
                    <a:pt x="0" y="36635"/>
                  </a:lnTo>
                  <a:cubicBezTo>
                    <a:pt x="0" y="16402"/>
                    <a:pt x="16402" y="0"/>
                    <a:pt x="36635" y="0"/>
                  </a:cubicBezTo>
                  <a:close/>
                </a:path>
              </a:pathLst>
            </a:custGeom>
            <a:solidFill>
              <a:srgbClr val="02B676"/>
            </a:solidFill>
          </p:spPr>
        </p:sp>
        <p:sp>
          <p:nvSpPr>
            <p:cNvPr name="TextBox 10" id="10"/>
            <p:cNvSpPr txBox="true"/>
            <p:nvPr/>
          </p:nvSpPr>
          <p:spPr>
            <a:xfrm>
              <a:off x="0" y="-104775"/>
              <a:ext cx="2838515" cy="570780"/>
            </a:xfrm>
            <a:prstGeom prst="rect">
              <a:avLst/>
            </a:prstGeom>
          </p:spPr>
          <p:txBody>
            <a:bodyPr anchor="ctr" rtlCol="false" tIns="50800" lIns="50800" bIns="50800" rIns="50800"/>
            <a:lstStyle/>
            <a:p>
              <a:pPr algn="ctr">
                <a:lnSpc>
                  <a:spcPts val="4200"/>
                </a:lnSpc>
              </a:pPr>
              <a:r>
                <a:rPr lang="en-US" b="true" sz="3000">
                  <a:solidFill>
                    <a:srgbClr val="FFFFFF"/>
                  </a:solidFill>
                  <a:latin typeface="Telegraf Bold"/>
                  <a:ea typeface="Telegraf Bold"/>
                  <a:cs typeface="Telegraf Bold"/>
                  <a:sym typeface="Telegraf Bold"/>
                </a:rPr>
                <a:t>Règlement financier : Tunisie Clearing transmet les instructions à la Banque Centrale, qui effectue les transferts entre comptes</a:t>
              </a:r>
            </a:p>
          </p:txBody>
        </p:sp>
      </p:grpSp>
      <p:sp>
        <p:nvSpPr>
          <p:cNvPr name="TextBox 11" id="11"/>
          <p:cNvSpPr txBox="true"/>
          <p:nvPr/>
        </p:nvSpPr>
        <p:spPr>
          <a:xfrm rot="0">
            <a:off x="0" y="101811"/>
            <a:ext cx="15382354"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3. FONCTIONNEMENT DE TUNISIE CLEARING :</a:t>
            </a:r>
          </a:p>
        </p:txBody>
      </p:sp>
      <p:sp>
        <p:nvSpPr>
          <p:cNvPr name="Freeform 12" id="12"/>
          <p:cNvSpPr/>
          <p:nvPr/>
        </p:nvSpPr>
        <p:spPr>
          <a:xfrm flipH="false" flipV="false" rot="0">
            <a:off x="14785728" y="-6982"/>
            <a:ext cx="3250652" cy="1300261"/>
          </a:xfrm>
          <a:custGeom>
            <a:avLst/>
            <a:gdLst/>
            <a:ahLst/>
            <a:cxnLst/>
            <a:rect r="r" b="b" t="t" l="l"/>
            <a:pathLst>
              <a:path h="1300261" w="3250652">
                <a:moveTo>
                  <a:pt x="0" y="0"/>
                </a:moveTo>
                <a:lnTo>
                  <a:pt x="3250652" y="0"/>
                </a:lnTo>
                <a:lnTo>
                  <a:pt x="3250652" y="1300260"/>
                </a:lnTo>
                <a:lnTo>
                  <a:pt x="0" y="1300260"/>
                </a:lnTo>
                <a:lnTo>
                  <a:pt x="0" y="0"/>
                </a:lnTo>
                <a:close/>
              </a:path>
            </a:pathLst>
          </a:custGeom>
          <a:blipFill>
            <a:blip r:embed="rId2"/>
            <a:stretch>
              <a:fillRect l="0" t="0" r="0" b="0"/>
            </a:stretch>
          </a:blipFill>
        </p:spPr>
      </p:sp>
      <p:sp>
        <p:nvSpPr>
          <p:cNvPr name="Freeform 13" id="13"/>
          <p:cNvSpPr/>
          <p:nvPr/>
        </p:nvSpPr>
        <p:spPr>
          <a:xfrm flipH="false" flipV="false" rot="0">
            <a:off x="10783949" y="1619443"/>
            <a:ext cx="504570" cy="1582963"/>
          </a:xfrm>
          <a:custGeom>
            <a:avLst/>
            <a:gdLst/>
            <a:ahLst/>
            <a:cxnLst/>
            <a:rect r="r" b="b" t="t" l="l"/>
            <a:pathLst>
              <a:path h="1582963" w="504570">
                <a:moveTo>
                  <a:pt x="0" y="0"/>
                </a:moveTo>
                <a:lnTo>
                  <a:pt x="504570" y="0"/>
                </a:lnTo>
                <a:lnTo>
                  <a:pt x="504570" y="1582963"/>
                </a:lnTo>
                <a:lnTo>
                  <a:pt x="0" y="15829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10783949" y="3421831"/>
            <a:ext cx="504570" cy="1582963"/>
          </a:xfrm>
          <a:custGeom>
            <a:avLst/>
            <a:gdLst/>
            <a:ahLst/>
            <a:cxnLst/>
            <a:rect r="r" b="b" t="t" l="l"/>
            <a:pathLst>
              <a:path h="1582963" w="504570">
                <a:moveTo>
                  <a:pt x="0" y="0"/>
                </a:moveTo>
                <a:lnTo>
                  <a:pt x="504570" y="0"/>
                </a:lnTo>
                <a:lnTo>
                  <a:pt x="504570" y="1582963"/>
                </a:lnTo>
                <a:lnTo>
                  <a:pt x="0" y="15829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5" id="15"/>
          <p:cNvGrpSpPr/>
          <p:nvPr/>
        </p:nvGrpSpPr>
        <p:grpSpPr>
          <a:xfrm rot="0">
            <a:off x="258746" y="6108481"/>
            <a:ext cx="10777488" cy="1235964"/>
            <a:chOff x="0" y="0"/>
            <a:chExt cx="2838515" cy="325521"/>
          </a:xfrm>
        </p:grpSpPr>
        <p:sp>
          <p:nvSpPr>
            <p:cNvPr name="Freeform 16" id="16"/>
            <p:cNvSpPr/>
            <p:nvPr/>
          </p:nvSpPr>
          <p:spPr>
            <a:xfrm flipH="false" flipV="false" rot="0">
              <a:off x="0" y="0"/>
              <a:ext cx="2838515" cy="325521"/>
            </a:xfrm>
            <a:custGeom>
              <a:avLst/>
              <a:gdLst/>
              <a:ahLst/>
              <a:cxnLst/>
              <a:rect r="r" b="b" t="t" l="l"/>
              <a:pathLst>
                <a:path h="325521" w="2838515">
                  <a:moveTo>
                    <a:pt x="36635" y="0"/>
                  </a:moveTo>
                  <a:lnTo>
                    <a:pt x="2801880" y="0"/>
                  </a:lnTo>
                  <a:cubicBezTo>
                    <a:pt x="2822113" y="0"/>
                    <a:pt x="2838515" y="16402"/>
                    <a:pt x="2838515" y="36635"/>
                  </a:cubicBezTo>
                  <a:lnTo>
                    <a:pt x="2838515" y="288886"/>
                  </a:lnTo>
                  <a:cubicBezTo>
                    <a:pt x="2838515" y="298602"/>
                    <a:pt x="2834655" y="307921"/>
                    <a:pt x="2827785" y="314791"/>
                  </a:cubicBezTo>
                  <a:cubicBezTo>
                    <a:pt x="2820915" y="321662"/>
                    <a:pt x="2811596" y="325521"/>
                    <a:pt x="2801880" y="325521"/>
                  </a:cubicBezTo>
                  <a:lnTo>
                    <a:pt x="36635" y="325521"/>
                  </a:lnTo>
                  <a:cubicBezTo>
                    <a:pt x="16402" y="325521"/>
                    <a:pt x="0" y="309119"/>
                    <a:pt x="0" y="288886"/>
                  </a:cubicBezTo>
                  <a:lnTo>
                    <a:pt x="0" y="36635"/>
                  </a:lnTo>
                  <a:cubicBezTo>
                    <a:pt x="0" y="16402"/>
                    <a:pt x="16402" y="0"/>
                    <a:pt x="36635" y="0"/>
                  </a:cubicBezTo>
                  <a:close/>
                </a:path>
              </a:pathLst>
            </a:custGeom>
            <a:solidFill>
              <a:srgbClr val="02B676"/>
            </a:solidFill>
          </p:spPr>
        </p:sp>
        <p:sp>
          <p:nvSpPr>
            <p:cNvPr name="TextBox 17" id="17"/>
            <p:cNvSpPr txBox="true"/>
            <p:nvPr/>
          </p:nvSpPr>
          <p:spPr>
            <a:xfrm>
              <a:off x="0" y="-104775"/>
              <a:ext cx="2838515" cy="430296"/>
            </a:xfrm>
            <a:prstGeom prst="rect">
              <a:avLst/>
            </a:prstGeom>
          </p:spPr>
          <p:txBody>
            <a:bodyPr anchor="ctr" rtlCol="false" tIns="50800" lIns="50800" bIns="50800" rIns="50800"/>
            <a:lstStyle/>
            <a:p>
              <a:pPr algn="ctr">
                <a:lnSpc>
                  <a:spcPts val="4200"/>
                </a:lnSpc>
              </a:pPr>
              <a:r>
                <a:rPr lang="en-US" b="true" sz="3000">
                  <a:solidFill>
                    <a:srgbClr val="FFFFFF"/>
                  </a:solidFill>
                  <a:latin typeface="Telegraf Bold"/>
                  <a:ea typeface="Telegraf Bold"/>
                  <a:cs typeface="Telegraf Bold"/>
                  <a:sym typeface="Telegraf Bold"/>
                </a:rPr>
                <a:t>Gestion des incidents : centralisation des rejets (ex. chèques sans provision), diffusion aux banques.</a:t>
              </a:r>
            </a:p>
          </p:txBody>
        </p:sp>
      </p:grpSp>
      <p:sp>
        <p:nvSpPr>
          <p:cNvPr name="Freeform 18" id="18"/>
          <p:cNvSpPr/>
          <p:nvPr/>
        </p:nvSpPr>
        <p:spPr>
          <a:xfrm flipH="false" flipV="false" rot="0">
            <a:off x="10783949" y="5143500"/>
            <a:ext cx="504570" cy="1582963"/>
          </a:xfrm>
          <a:custGeom>
            <a:avLst/>
            <a:gdLst/>
            <a:ahLst/>
            <a:cxnLst/>
            <a:rect r="r" b="b" t="t" l="l"/>
            <a:pathLst>
              <a:path h="1582963" w="504570">
                <a:moveTo>
                  <a:pt x="0" y="0"/>
                </a:moveTo>
                <a:lnTo>
                  <a:pt x="504570" y="0"/>
                </a:lnTo>
                <a:lnTo>
                  <a:pt x="504570" y="1582963"/>
                </a:lnTo>
                <a:lnTo>
                  <a:pt x="0" y="158296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19" id="19"/>
          <p:cNvGrpSpPr/>
          <p:nvPr/>
        </p:nvGrpSpPr>
        <p:grpSpPr>
          <a:xfrm rot="0">
            <a:off x="258746" y="7582570"/>
            <a:ext cx="10777488" cy="1235964"/>
            <a:chOff x="0" y="0"/>
            <a:chExt cx="2838515" cy="325521"/>
          </a:xfrm>
        </p:grpSpPr>
        <p:sp>
          <p:nvSpPr>
            <p:cNvPr name="Freeform 20" id="20"/>
            <p:cNvSpPr/>
            <p:nvPr/>
          </p:nvSpPr>
          <p:spPr>
            <a:xfrm flipH="false" flipV="false" rot="0">
              <a:off x="0" y="0"/>
              <a:ext cx="2838515" cy="325521"/>
            </a:xfrm>
            <a:custGeom>
              <a:avLst/>
              <a:gdLst/>
              <a:ahLst/>
              <a:cxnLst/>
              <a:rect r="r" b="b" t="t" l="l"/>
              <a:pathLst>
                <a:path h="325521" w="2838515">
                  <a:moveTo>
                    <a:pt x="36635" y="0"/>
                  </a:moveTo>
                  <a:lnTo>
                    <a:pt x="2801880" y="0"/>
                  </a:lnTo>
                  <a:cubicBezTo>
                    <a:pt x="2822113" y="0"/>
                    <a:pt x="2838515" y="16402"/>
                    <a:pt x="2838515" y="36635"/>
                  </a:cubicBezTo>
                  <a:lnTo>
                    <a:pt x="2838515" y="288886"/>
                  </a:lnTo>
                  <a:cubicBezTo>
                    <a:pt x="2838515" y="298602"/>
                    <a:pt x="2834655" y="307921"/>
                    <a:pt x="2827785" y="314791"/>
                  </a:cubicBezTo>
                  <a:cubicBezTo>
                    <a:pt x="2820915" y="321662"/>
                    <a:pt x="2811596" y="325521"/>
                    <a:pt x="2801880" y="325521"/>
                  </a:cubicBezTo>
                  <a:lnTo>
                    <a:pt x="36635" y="325521"/>
                  </a:lnTo>
                  <a:cubicBezTo>
                    <a:pt x="16402" y="325521"/>
                    <a:pt x="0" y="309119"/>
                    <a:pt x="0" y="288886"/>
                  </a:cubicBezTo>
                  <a:lnTo>
                    <a:pt x="0" y="36635"/>
                  </a:lnTo>
                  <a:cubicBezTo>
                    <a:pt x="0" y="16402"/>
                    <a:pt x="16402" y="0"/>
                    <a:pt x="36635" y="0"/>
                  </a:cubicBezTo>
                  <a:close/>
                </a:path>
              </a:pathLst>
            </a:custGeom>
            <a:solidFill>
              <a:srgbClr val="02B676"/>
            </a:solidFill>
          </p:spPr>
        </p:sp>
        <p:sp>
          <p:nvSpPr>
            <p:cNvPr name="TextBox 21" id="21"/>
            <p:cNvSpPr txBox="true"/>
            <p:nvPr/>
          </p:nvSpPr>
          <p:spPr>
            <a:xfrm>
              <a:off x="0" y="-104775"/>
              <a:ext cx="2838515" cy="430296"/>
            </a:xfrm>
            <a:prstGeom prst="rect">
              <a:avLst/>
            </a:prstGeom>
          </p:spPr>
          <p:txBody>
            <a:bodyPr anchor="ctr" rtlCol="false" tIns="50800" lIns="50800" bIns="50800" rIns="50800"/>
            <a:lstStyle/>
            <a:p>
              <a:pPr algn="ctr">
                <a:lnSpc>
                  <a:spcPts val="4200"/>
                </a:lnSpc>
              </a:pPr>
              <a:r>
                <a:rPr lang="en-US" b="true" sz="3000">
                  <a:solidFill>
                    <a:srgbClr val="FFFFFF"/>
                  </a:solidFill>
                  <a:latin typeface="Telegraf Bold"/>
                  <a:ea typeface="Telegraf Bold"/>
                  <a:cs typeface="Telegraf Bold"/>
                  <a:sym typeface="Telegraf Bold"/>
                </a:rPr>
                <a:t>Normalisation et automatisation des échanges via protocoles communs.</a:t>
              </a:r>
            </a:p>
          </p:txBody>
        </p:sp>
      </p:grpSp>
      <p:sp>
        <p:nvSpPr>
          <p:cNvPr name="Freeform 22" id="22"/>
          <p:cNvSpPr/>
          <p:nvPr/>
        </p:nvSpPr>
        <p:spPr>
          <a:xfrm flipH="false" flipV="false" rot="0">
            <a:off x="10783949" y="6869338"/>
            <a:ext cx="504570" cy="1582963"/>
          </a:xfrm>
          <a:custGeom>
            <a:avLst/>
            <a:gdLst/>
            <a:ahLst/>
            <a:cxnLst/>
            <a:rect r="r" b="b" t="t" l="l"/>
            <a:pathLst>
              <a:path h="1582963" w="504570">
                <a:moveTo>
                  <a:pt x="0" y="0"/>
                </a:moveTo>
                <a:lnTo>
                  <a:pt x="504570" y="0"/>
                </a:lnTo>
                <a:lnTo>
                  <a:pt x="504570" y="1582964"/>
                </a:lnTo>
                <a:lnTo>
                  <a:pt x="0" y="158296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grpSp>
        <p:nvGrpSpPr>
          <p:cNvPr name="Group 2" id="2"/>
          <p:cNvGrpSpPr/>
          <p:nvPr/>
        </p:nvGrpSpPr>
        <p:grpSpPr>
          <a:xfrm rot="0">
            <a:off x="8625203" y="1028700"/>
            <a:ext cx="4214572" cy="3621897"/>
            <a:chOff x="0" y="0"/>
            <a:chExt cx="812800" cy="698500"/>
          </a:xfrm>
        </p:grpSpPr>
        <p:sp>
          <p:nvSpPr>
            <p:cNvPr name="Freeform 3" id="3"/>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C97F"/>
            </a:solidFill>
          </p:spPr>
        </p:sp>
        <p:sp>
          <p:nvSpPr>
            <p:cNvPr name="TextBox 4" id="4"/>
            <p:cNvSpPr txBox="true"/>
            <p:nvPr/>
          </p:nvSpPr>
          <p:spPr>
            <a:xfrm>
              <a:off x="114300" y="9525"/>
              <a:ext cx="584200" cy="688975"/>
            </a:xfrm>
            <a:prstGeom prst="rect">
              <a:avLst/>
            </a:prstGeom>
          </p:spPr>
          <p:txBody>
            <a:bodyPr anchor="ctr" rtlCol="false" tIns="50800" lIns="50800" bIns="50800" rIns="50800"/>
            <a:lstStyle/>
            <a:p>
              <a:pPr algn="ctr">
                <a:lnSpc>
                  <a:spcPts val="2400"/>
                </a:lnSpc>
              </a:pPr>
              <a:r>
                <a:rPr lang="en-US" b="true" sz="2400">
                  <a:solidFill>
                    <a:srgbClr val="000000"/>
                  </a:solidFill>
                  <a:latin typeface="Telegraf Bold"/>
                  <a:ea typeface="Telegraf Bold"/>
                  <a:cs typeface="Telegraf Bold"/>
                  <a:sym typeface="Telegraf Bold"/>
                </a:rPr>
                <a:t>Optimise les coûts de paiement en traitant les positions nettes plutôt que les transactions individuelles.</a:t>
              </a:r>
            </a:p>
          </p:txBody>
        </p:sp>
      </p:grpSp>
      <p:grpSp>
        <p:nvGrpSpPr>
          <p:cNvPr name="Group 5" id="5"/>
          <p:cNvGrpSpPr/>
          <p:nvPr/>
        </p:nvGrpSpPr>
        <p:grpSpPr>
          <a:xfrm rot="0">
            <a:off x="8625203" y="4842807"/>
            <a:ext cx="4214572" cy="3621897"/>
            <a:chOff x="0" y="0"/>
            <a:chExt cx="812800" cy="698500"/>
          </a:xfrm>
        </p:grpSpPr>
        <p:sp>
          <p:nvSpPr>
            <p:cNvPr name="Freeform 6" id="6"/>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C97F"/>
            </a:solidFill>
          </p:spPr>
        </p:sp>
        <p:sp>
          <p:nvSpPr>
            <p:cNvPr name="TextBox 7" id="7"/>
            <p:cNvSpPr txBox="true"/>
            <p:nvPr/>
          </p:nvSpPr>
          <p:spPr>
            <a:xfrm>
              <a:off x="114300" y="9525"/>
              <a:ext cx="584200" cy="688975"/>
            </a:xfrm>
            <a:prstGeom prst="rect">
              <a:avLst/>
            </a:prstGeom>
          </p:spPr>
          <p:txBody>
            <a:bodyPr anchor="ctr" rtlCol="false" tIns="50800" lIns="50800" bIns="50800" rIns="50800"/>
            <a:lstStyle/>
            <a:p>
              <a:pPr algn="ctr">
                <a:lnSpc>
                  <a:spcPts val="2300"/>
                </a:lnSpc>
              </a:pPr>
              <a:r>
                <a:rPr lang="en-US" b="true" sz="2300">
                  <a:solidFill>
                    <a:srgbClr val="000000"/>
                  </a:solidFill>
                  <a:latin typeface="Telegraf Bold"/>
                  <a:ea typeface="Telegraf Bold"/>
                  <a:cs typeface="Telegraf Bold"/>
                  <a:sym typeface="Telegraf Bold"/>
                </a:rPr>
                <a:t>Favorise la transparence et la confiance, grâce à la traçabilité des opérations et aux bulletins quotidiens</a:t>
              </a:r>
            </a:p>
          </p:txBody>
        </p:sp>
      </p:grpSp>
      <p:grpSp>
        <p:nvGrpSpPr>
          <p:cNvPr name="Group 8" id="8"/>
          <p:cNvGrpSpPr/>
          <p:nvPr/>
        </p:nvGrpSpPr>
        <p:grpSpPr>
          <a:xfrm rot="0">
            <a:off x="5329780" y="2988141"/>
            <a:ext cx="4214572" cy="3621897"/>
            <a:chOff x="0" y="0"/>
            <a:chExt cx="812800" cy="698500"/>
          </a:xfrm>
        </p:grpSpPr>
        <p:sp>
          <p:nvSpPr>
            <p:cNvPr name="Freeform 9" id="9"/>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B676"/>
            </a:solidFill>
          </p:spPr>
        </p:sp>
        <p:sp>
          <p:nvSpPr>
            <p:cNvPr name="TextBox 10" id="10"/>
            <p:cNvSpPr txBox="true"/>
            <p:nvPr/>
          </p:nvSpPr>
          <p:spPr>
            <a:xfrm>
              <a:off x="114300" y="9525"/>
              <a:ext cx="584200" cy="688975"/>
            </a:xfrm>
            <a:prstGeom prst="rect">
              <a:avLst/>
            </a:prstGeom>
          </p:spPr>
          <p:txBody>
            <a:bodyPr anchor="ctr" rtlCol="false" tIns="50800" lIns="50800" bIns="50800" rIns="50800"/>
            <a:lstStyle/>
            <a:p>
              <a:pPr algn="ctr">
                <a:lnSpc>
                  <a:spcPts val="2499"/>
                </a:lnSpc>
              </a:pPr>
              <a:r>
                <a:rPr lang="en-US" b="true" sz="2499">
                  <a:solidFill>
                    <a:srgbClr val="FFFFFF"/>
                  </a:solidFill>
                  <a:latin typeface="Telegraf Bold"/>
                  <a:ea typeface="Telegraf Bold"/>
                  <a:cs typeface="Telegraf Bold"/>
                  <a:sym typeface="Telegraf Bold"/>
                </a:rPr>
                <a:t>Renforce la sécurité et la fiabilité des échanges interbancaires par la centralisation et standardisation .</a:t>
              </a:r>
            </a:p>
          </p:txBody>
        </p:sp>
      </p:grpSp>
      <p:grpSp>
        <p:nvGrpSpPr>
          <p:cNvPr name="Group 11" id="11"/>
          <p:cNvGrpSpPr/>
          <p:nvPr/>
        </p:nvGrpSpPr>
        <p:grpSpPr>
          <a:xfrm rot="0">
            <a:off x="11911102" y="2930991"/>
            <a:ext cx="4214572" cy="3621897"/>
            <a:chOff x="0" y="0"/>
            <a:chExt cx="812800" cy="698500"/>
          </a:xfrm>
        </p:grpSpPr>
        <p:sp>
          <p:nvSpPr>
            <p:cNvPr name="Freeform 12" id="12"/>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02B676"/>
            </a:solidFill>
          </p:spPr>
        </p:sp>
        <p:sp>
          <p:nvSpPr>
            <p:cNvPr name="TextBox 13" id="13"/>
            <p:cNvSpPr txBox="true"/>
            <p:nvPr/>
          </p:nvSpPr>
          <p:spPr>
            <a:xfrm>
              <a:off x="114300" y="9525"/>
              <a:ext cx="584200" cy="688975"/>
            </a:xfrm>
            <a:prstGeom prst="rect">
              <a:avLst/>
            </a:prstGeom>
          </p:spPr>
          <p:txBody>
            <a:bodyPr anchor="ctr" rtlCol="false" tIns="50800" lIns="50800" bIns="50800" rIns="50800"/>
            <a:lstStyle/>
            <a:p>
              <a:pPr algn="ctr">
                <a:lnSpc>
                  <a:spcPts val="2300"/>
                </a:lnSpc>
              </a:pPr>
              <a:r>
                <a:rPr lang="en-US" b="true" sz="2300">
                  <a:solidFill>
                    <a:srgbClr val="FFFFFF"/>
                  </a:solidFill>
                  <a:latin typeface="Telegraf Bold"/>
                  <a:ea typeface="Telegraf Bold"/>
                  <a:cs typeface="Telegraf Bold"/>
                  <a:sym typeface="Telegraf Bold"/>
                </a:rPr>
                <a:t>Soutient l’innovation dans les solutions de paiement moderne et contribue à la stabilité financière grâce à la supervision de la Banque Centrale.</a:t>
              </a:r>
            </a:p>
          </p:txBody>
        </p:sp>
      </p:grpSp>
      <p:grpSp>
        <p:nvGrpSpPr>
          <p:cNvPr name="Group 14" id="14"/>
          <p:cNvGrpSpPr/>
          <p:nvPr/>
        </p:nvGrpSpPr>
        <p:grpSpPr>
          <a:xfrm rot="0">
            <a:off x="2034356" y="4947582"/>
            <a:ext cx="4214572" cy="3621897"/>
            <a:chOff x="0" y="0"/>
            <a:chExt cx="812800" cy="698500"/>
          </a:xfrm>
        </p:grpSpPr>
        <p:sp>
          <p:nvSpPr>
            <p:cNvPr name="Freeform 15" id="15"/>
            <p:cNvSpPr/>
            <p:nvPr/>
          </p:nvSpPr>
          <p:spPr>
            <a:xfrm flipH="false" flipV="false" rot="0">
              <a:off x="0" y="0"/>
              <a:ext cx="812800" cy="698500"/>
            </a:xfrm>
            <a:custGeom>
              <a:avLst/>
              <a:gdLst/>
              <a:ahLst/>
              <a:cxnLst/>
              <a:rect r="r" b="b" t="t" l="l"/>
              <a:pathLst>
                <a:path h="698500" w="812800">
                  <a:moveTo>
                    <a:pt x="812800" y="349250"/>
                  </a:moveTo>
                  <a:lnTo>
                    <a:pt x="609600" y="698500"/>
                  </a:lnTo>
                  <a:lnTo>
                    <a:pt x="203200" y="698500"/>
                  </a:lnTo>
                  <a:lnTo>
                    <a:pt x="0" y="349250"/>
                  </a:lnTo>
                  <a:lnTo>
                    <a:pt x="203200" y="0"/>
                  </a:lnTo>
                  <a:lnTo>
                    <a:pt x="609600" y="0"/>
                  </a:lnTo>
                  <a:lnTo>
                    <a:pt x="812800" y="349250"/>
                  </a:lnTo>
                  <a:close/>
                </a:path>
              </a:pathLst>
            </a:custGeom>
            <a:solidFill>
              <a:srgbClr val="FFC97F"/>
            </a:solidFill>
          </p:spPr>
        </p:sp>
        <p:sp>
          <p:nvSpPr>
            <p:cNvPr name="TextBox 16" id="16"/>
            <p:cNvSpPr txBox="true"/>
            <p:nvPr/>
          </p:nvSpPr>
          <p:spPr>
            <a:xfrm>
              <a:off x="114300" y="9525"/>
              <a:ext cx="584200" cy="688975"/>
            </a:xfrm>
            <a:prstGeom prst="rect">
              <a:avLst/>
            </a:prstGeom>
          </p:spPr>
          <p:txBody>
            <a:bodyPr anchor="ctr" rtlCol="false" tIns="50800" lIns="50800" bIns="50800" rIns="50800"/>
            <a:lstStyle/>
            <a:p>
              <a:pPr algn="ctr">
                <a:lnSpc>
                  <a:spcPts val="2300"/>
                </a:lnSpc>
              </a:pPr>
              <a:r>
                <a:rPr lang="en-US" b="true" sz="2300">
                  <a:solidFill>
                    <a:srgbClr val="000000"/>
                  </a:solidFill>
                  <a:latin typeface="Telegraf Bold"/>
                  <a:ea typeface="Telegraf Bold"/>
                  <a:cs typeface="Telegraf Bold"/>
                  <a:sym typeface="Telegraf Bold"/>
                </a:rPr>
                <a:t>Fluidifie la circulation des paiements et liquéfie le système financier en réduisant les délais et nombre de transferts.</a:t>
              </a:r>
            </a:p>
          </p:txBody>
        </p:sp>
      </p:grpSp>
      <p:sp>
        <p:nvSpPr>
          <p:cNvPr name="TextBox 17" id="17"/>
          <p:cNvSpPr txBox="true"/>
          <p:nvPr/>
        </p:nvSpPr>
        <p:spPr>
          <a:xfrm rot="0">
            <a:off x="640121" y="1162336"/>
            <a:ext cx="8115300" cy="284480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4. IMPORTANCE POUR LE SYSTÈME FINANCIER TUNISIEN :</a:t>
            </a:r>
          </a:p>
        </p:txBody>
      </p:sp>
      <p:sp>
        <p:nvSpPr>
          <p:cNvPr name="Freeform 18" id="18"/>
          <p:cNvSpPr/>
          <p:nvPr/>
        </p:nvSpPr>
        <p:spPr>
          <a:xfrm flipH="false" flipV="false" rot="0">
            <a:off x="162895" y="0"/>
            <a:ext cx="3250652" cy="1300261"/>
          </a:xfrm>
          <a:custGeom>
            <a:avLst/>
            <a:gdLst/>
            <a:ahLst/>
            <a:cxnLst/>
            <a:rect r="r" b="b" t="t" l="l"/>
            <a:pathLst>
              <a:path h="1300261" w="3250652">
                <a:moveTo>
                  <a:pt x="0" y="0"/>
                </a:moveTo>
                <a:lnTo>
                  <a:pt x="3250652" y="0"/>
                </a:lnTo>
                <a:lnTo>
                  <a:pt x="3250652" y="1300261"/>
                </a:lnTo>
                <a:lnTo>
                  <a:pt x="0" y="1300261"/>
                </a:lnTo>
                <a:lnTo>
                  <a:pt x="0" y="0"/>
                </a:lnTo>
                <a:close/>
              </a:path>
            </a:pathLst>
          </a:custGeom>
          <a:blipFill>
            <a:blip r:embed="rId2"/>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514350" y="1019175"/>
            <a:ext cx="17259300" cy="1958975"/>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5. OBJECTIF DU BULLETIN QUOTIDIEN DES ACTIVITÉS :</a:t>
            </a:r>
          </a:p>
        </p:txBody>
      </p:sp>
      <p:sp>
        <p:nvSpPr>
          <p:cNvPr name="TextBox 3" id="3"/>
          <p:cNvSpPr txBox="true"/>
          <p:nvPr/>
        </p:nvSpPr>
        <p:spPr>
          <a:xfrm rot="0">
            <a:off x="7217690" y="2809875"/>
            <a:ext cx="9617487" cy="7515225"/>
          </a:xfrm>
          <a:prstGeom prst="rect">
            <a:avLst/>
          </a:prstGeom>
        </p:spPr>
        <p:txBody>
          <a:bodyPr anchor="t" rtlCol="false" tIns="0" lIns="0" bIns="0" rIns="0">
            <a:spAutoFit/>
          </a:bodyPr>
          <a:lstStyle/>
          <a:p>
            <a:pPr algn="l">
              <a:lnSpc>
                <a:spcPts val="4200"/>
              </a:lnSpc>
            </a:pPr>
            <a:r>
              <a:rPr lang="en-US" sz="3500" spc="171">
                <a:solidFill>
                  <a:srgbClr val="290606"/>
                </a:solidFill>
                <a:latin typeface="Telegraf"/>
                <a:ea typeface="Telegraf"/>
                <a:cs typeface="Telegraf"/>
                <a:sym typeface="Telegraf"/>
              </a:rPr>
              <a:t>Le Bulletin Quotidien des Activités est un document officiel publié par Tunisie Clearing, la société de dépôt, de compensation et de règlement des titres en Tunisie chaque jour ouvrable c'est-à-dire du lundi au vendredi, à l'exception des jours fériés. Il offre une vue d'ensemble des opérations réalisées sur les marchés financiers tunisiens au cours d'une journée donnée. Ce bulletin vise à fournir des informations transparentes et actualisées aux acteurs du marché, tels que les investisseurs, les courtiers, les gestionnaires d'actifs et les régulateurs.</a:t>
            </a:r>
          </a:p>
        </p:txBody>
      </p:sp>
      <p:sp>
        <p:nvSpPr>
          <p:cNvPr name="Freeform 4" id="4"/>
          <p:cNvSpPr/>
          <p:nvPr/>
        </p:nvSpPr>
        <p:spPr>
          <a:xfrm flipH="false" flipV="false" rot="0">
            <a:off x="14785728" y="-6982"/>
            <a:ext cx="3250652" cy="1300261"/>
          </a:xfrm>
          <a:custGeom>
            <a:avLst/>
            <a:gdLst/>
            <a:ahLst/>
            <a:cxnLst/>
            <a:rect r="r" b="b" t="t" l="l"/>
            <a:pathLst>
              <a:path h="1300261" w="3250652">
                <a:moveTo>
                  <a:pt x="0" y="0"/>
                </a:moveTo>
                <a:lnTo>
                  <a:pt x="3250652" y="0"/>
                </a:lnTo>
                <a:lnTo>
                  <a:pt x="3250652" y="1300260"/>
                </a:lnTo>
                <a:lnTo>
                  <a:pt x="0" y="1300260"/>
                </a:lnTo>
                <a:lnTo>
                  <a:pt x="0" y="0"/>
                </a:lnTo>
                <a:close/>
              </a:path>
            </a:pathLst>
          </a:custGeom>
          <a:blipFill>
            <a:blip r:embed="rId2"/>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1757527" y="1019175"/>
            <a:ext cx="14772946" cy="1073150"/>
          </a:xfrm>
          <a:prstGeom prst="rect">
            <a:avLst/>
          </a:prstGeom>
        </p:spPr>
        <p:txBody>
          <a:bodyPr anchor="t" rtlCol="false" tIns="0" lIns="0" bIns="0" rIns="0">
            <a:spAutoFit/>
          </a:bodyPr>
          <a:lstStyle/>
          <a:p>
            <a:pPr algn="ctr">
              <a:lnSpc>
                <a:spcPts val="6999"/>
              </a:lnSpc>
            </a:pPr>
            <a:r>
              <a:rPr lang="en-US" sz="6999" spc="342">
                <a:solidFill>
                  <a:srgbClr val="290606"/>
                </a:solidFill>
                <a:latin typeface="Cheddar"/>
                <a:ea typeface="Cheddar"/>
                <a:cs typeface="Cheddar"/>
                <a:sym typeface="Cheddar"/>
              </a:rPr>
              <a:t>6. STRUCTURE GÉNÉRALE DU BULLETIN:</a:t>
            </a:r>
          </a:p>
        </p:txBody>
      </p:sp>
      <p:grpSp>
        <p:nvGrpSpPr>
          <p:cNvPr name="Group 3" id="3"/>
          <p:cNvGrpSpPr/>
          <p:nvPr/>
        </p:nvGrpSpPr>
        <p:grpSpPr>
          <a:xfrm rot="0">
            <a:off x="531483" y="3733176"/>
            <a:ext cx="8030699" cy="3369564"/>
            <a:chOff x="0" y="0"/>
            <a:chExt cx="2115081" cy="887457"/>
          </a:xfrm>
        </p:grpSpPr>
        <p:sp>
          <p:nvSpPr>
            <p:cNvPr name="Freeform 4" id="4"/>
            <p:cNvSpPr/>
            <p:nvPr/>
          </p:nvSpPr>
          <p:spPr>
            <a:xfrm flipH="false" flipV="false" rot="0">
              <a:off x="0" y="0"/>
              <a:ext cx="2115081" cy="887457"/>
            </a:xfrm>
            <a:custGeom>
              <a:avLst/>
              <a:gdLst/>
              <a:ahLst/>
              <a:cxnLst/>
              <a:rect r="r" b="b" t="t" l="l"/>
              <a:pathLst>
                <a:path h="887457" w="2115081">
                  <a:moveTo>
                    <a:pt x="49166" y="0"/>
                  </a:moveTo>
                  <a:lnTo>
                    <a:pt x="2065915" y="0"/>
                  </a:lnTo>
                  <a:cubicBezTo>
                    <a:pt x="2078955" y="0"/>
                    <a:pt x="2091461" y="5180"/>
                    <a:pt x="2100681" y="14400"/>
                  </a:cubicBezTo>
                  <a:cubicBezTo>
                    <a:pt x="2109901" y="23621"/>
                    <a:pt x="2115081" y="36126"/>
                    <a:pt x="2115081" y="49166"/>
                  </a:cubicBezTo>
                  <a:lnTo>
                    <a:pt x="2115081" y="838291"/>
                  </a:lnTo>
                  <a:cubicBezTo>
                    <a:pt x="2115081" y="865445"/>
                    <a:pt x="2093069" y="887457"/>
                    <a:pt x="2065915" y="887457"/>
                  </a:cubicBezTo>
                  <a:lnTo>
                    <a:pt x="49166" y="887457"/>
                  </a:lnTo>
                  <a:cubicBezTo>
                    <a:pt x="36126" y="887457"/>
                    <a:pt x="23621" y="882277"/>
                    <a:pt x="14400" y="873057"/>
                  </a:cubicBezTo>
                  <a:cubicBezTo>
                    <a:pt x="5180" y="863836"/>
                    <a:pt x="0" y="851331"/>
                    <a:pt x="0" y="838291"/>
                  </a:cubicBezTo>
                  <a:lnTo>
                    <a:pt x="0" y="49166"/>
                  </a:lnTo>
                  <a:cubicBezTo>
                    <a:pt x="0" y="36126"/>
                    <a:pt x="5180" y="23621"/>
                    <a:pt x="14400" y="14400"/>
                  </a:cubicBezTo>
                  <a:cubicBezTo>
                    <a:pt x="23621" y="5180"/>
                    <a:pt x="36126" y="0"/>
                    <a:pt x="49166" y="0"/>
                  </a:cubicBezTo>
                  <a:close/>
                </a:path>
              </a:pathLst>
            </a:custGeom>
            <a:solidFill>
              <a:srgbClr val="02B676"/>
            </a:solidFill>
          </p:spPr>
        </p:sp>
        <p:sp>
          <p:nvSpPr>
            <p:cNvPr name="TextBox 5" id="5"/>
            <p:cNvSpPr txBox="true"/>
            <p:nvPr/>
          </p:nvSpPr>
          <p:spPr>
            <a:xfrm>
              <a:off x="0" y="-104775"/>
              <a:ext cx="2115081" cy="992232"/>
            </a:xfrm>
            <a:prstGeom prst="rect">
              <a:avLst/>
            </a:prstGeom>
          </p:spPr>
          <p:txBody>
            <a:bodyPr anchor="ctr" rtlCol="false" tIns="50800" lIns="50800" bIns="50800" rIns="50800"/>
            <a:lstStyle/>
            <a:p>
              <a:pPr algn="ctr">
                <a:lnSpc>
                  <a:spcPts val="4200"/>
                </a:lnSpc>
              </a:pPr>
              <a:r>
                <a:rPr lang="en-US" sz="3000" b="true">
                  <a:solidFill>
                    <a:srgbClr val="FFFFFF"/>
                  </a:solidFill>
                  <a:latin typeface="Telegraf Bold"/>
                  <a:ea typeface="Telegraf Bold"/>
                  <a:cs typeface="Telegraf Bold"/>
                  <a:sym typeface="Telegraf Bold"/>
                </a:rPr>
                <a:t>Calendrier des dividendes (Exercice 2024)  :</a:t>
              </a:r>
            </a:p>
            <a:p>
              <a:pPr algn="ctr">
                <a:lnSpc>
                  <a:spcPts val="4200"/>
                </a:lnSpc>
              </a:pPr>
              <a:r>
                <a:rPr lang="en-US" sz="3000">
                  <a:solidFill>
                    <a:srgbClr val="FFFFFF"/>
                  </a:solidFill>
                  <a:latin typeface="Telegraf"/>
                  <a:ea typeface="Telegraf"/>
                  <a:cs typeface="Telegraf"/>
                  <a:sym typeface="Telegraf"/>
                </a:rPr>
                <a:t> Elle fournit un calendrier des dividendes à distribuer aux actionnaires pour l'exercice 2024, incluant les dates importantes et les montants prévus.</a:t>
              </a:r>
            </a:p>
          </p:txBody>
        </p:sp>
      </p:grpSp>
      <p:grpSp>
        <p:nvGrpSpPr>
          <p:cNvPr name="Group 6" id="6"/>
          <p:cNvGrpSpPr/>
          <p:nvPr/>
        </p:nvGrpSpPr>
        <p:grpSpPr>
          <a:xfrm rot="0">
            <a:off x="9266709" y="3733176"/>
            <a:ext cx="7992591" cy="3369564"/>
            <a:chOff x="0" y="0"/>
            <a:chExt cx="2105045" cy="887457"/>
          </a:xfrm>
        </p:grpSpPr>
        <p:sp>
          <p:nvSpPr>
            <p:cNvPr name="Freeform 7" id="7"/>
            <p:cNvSpPr/>
            <p:nvPr/>
          </p:nvSpPr>
          <p:spPr>
            <a:xfrm flipH="false" flipV="false" rot="0">
              <a:off x="0" y="0"/>
              <a:ext cx="2105045" cy="887457"/>
            </a:xfrm>
            <a:custGeom>
              <a:avLst/>
              <a:gdLst/>
              <a:ahLst/>
              <a:cxnLst/>
              <a:rect r="r" b="b" t="t" l="l"/>
              <a:pathLst>
                <a:path h="887457" w="2105045">
                  <a:moveTo>
                    <a:pt x="49400" y="0"/>
                  </a:moveTo>
                  <a:lnTo>
                    <a:pt x="2055644" y="0"/>
                  </a:lnTo>
                  <a:cubicBezTo>
                    <a:pt x="2068746" y="0"/>
                    <a:pt x="2081311" y="5205"/>
                    <a:pt x="2090575" y="14469"/>
                  </a:cubicBezTo>
                  <a:cubicBezTo>
                    <a:pt x="2099840" y="23733"/>
                    <a:pt x="2105045" y="36299"/>
                    <a:pt x="2105045" y="49400"/>
                  </a:cubicBezTo>
                  <a:lnTo>
                    <a:pt x="2105045" y="838057"/>
                  </a:lnTo>
                  <a:cubicBezTo>
                    <a:pt x="2105045" y="851159"/>
                    <a:pt x="2099840" y="863724"/>
                    <a:pt x="2090575" y="872988"/>
                  </a:cubicBezTo>
                  <a:cubicBezTo>
                    <a:pt x="2081311" y="882253"/>
                    <a:pt x="2068746" y="887457"/>
                    <a:pt x="2055644" y="887457"/>
                  </a:cubicBezTo>
                  <a:lnTo>
                    <a:pt x="49400" y="887457"/>
                  </a:lnTo>
                  <a:cubicBezTo>
                    <a:pt x="36299" y="887457"/>
                    <a:pt x="23733" y="882253"/>
                    <a:pt x="14469" y="872988"/>
                  </a:cubicBezTo>
                  <a:cubicBezTo>
                    <a:pt x="5205" y="863724"/>
                    <a:pt x="0" y="851159"/>
                    <a:pt x="0" y="838057"/>
                  </a:cubicBezTo>
                  <a:lnTo>
                    <a:pt x="0" y="49400"/>
                  </a:lnTo>
                  <a:cubicBezTo>
                    <a:pt x="0" y="36299"/>
                    <a:pt x="5205" y="23733"/>
                    <a:pt x="14469" y="14469"/>
                  </a:cubicBezTo>
                  <a:cubicBezTo>
                    <a:pt x="23733" y="5205"/>
                    <a:pt x="36299" y="0"/>
                    <a:pt x="49400" y="0"/>
                  </a:cubicBezTo>
                  <a:close/>
                </a:path>
              </a:pathLst>
            </a:custGeom>
            <a:solidFill>
              <a:srgbClr val="02B676"/>
            </a:solidFill>
          </p:spPr>
        </p:sp>
        <p:sp>
          <p:nvSpPr>
            <p:cNvPr name="TextBox 8" id="8"/>
            <p:cNvSpPr txBox="true"/>
            <p:nvPr/>
          </p:nvSpPr>
          <p:spPr>
            <a:xfrm>
              <a:off x="0" y="-104775"/>
              <a:ext cx="2105045" cy="992232"/>
            </a:xfrm>
            <a:prstGeom prst="rect">
              <a:avLst/>
            </a:prstGeom>
          </p:spPr>
          <p:txBody>
            <a:bodyPr anchor="ctr" rtlCol="false" tIns="50800" lIns="50800" bIns="50800" rIns="50800"/>
            <a:lstStyle/>
            <a:p>
              <a:pPr algn="ctr">
                <a:lnSpc>
                  <a:spcPts val="4200"/>
                </a:lnSpc>
              </a:pPr>
              <a:r>
                <a:rPr lang="en-US" sz="3000" b="true">
                  <a:solidFill>
                    <a:srgbClr val="FFFFFF"/>
                  </a:solidFill>
                  <a:latin typeface="Telegraf Bold"/>
                  <a:ea typeface="Telegraf Bold"/>
                  <a:cs typeface="Telegraf Bold"/>
                  <a:sym typeface="Telegraf Bold"/>
                </a:rPr>
                <a:t>Nouvelles Admissions du jour (En dehors des TCN) :</a:t>
              </a:r>
            </a:p>
            <a:p>
              <a:pPr algn="ctr">
                <a:lnSpc>
                  <a:spcPts val="4200"/>
                </a:lnSpc>
              </a:pPr>
              <a:r>
                <a:rPr lang="en-US" sz="3000">
                  <a:solidFill>
                    <a:srgbClr val="FFFFFF"/>
                  </a:solidFill>
                  <a:latin typeface="Telegraf"/>
                  <a:ea typeface="Telegraf"/>
                  <a:cs typeface="Telegraf"/>
                  <a:sym typeface="Telegraf"/>
                </a:rPr>
                <a:t> Cette partie liste les nouveaux titres admis à la négociation sur le marché, excluant les Titres de Créances Négociables (TCN).</a:t>
              </a:r>
            </a:p>
          </p:txBody>
        </p:sp>
      </p:grpSp>
      <p:grpSp>
        <p:nvGrpSpPr>
          <p:cNvPr name="Group 9" id="9"/>
          <p:cNvGrpSpPr/>
          <p:nvPr/>
        </p:nvGrpSpPr>
        <p:grpSpPr>
          <a:xfrm rot="0">
            <a:off x="3533432" y="7513431"/>
            <a:ext cx="10321269" cy="2302764"/>
            <a:chOff x="0" y="0"/>
            <a:chExt cx="2718359" cy="606489"/>
          </a:xfrm>
        </p:grpSpPr>
        <p:sp>
          <p:nvSpPr>
            <p:cNvPr name="Freeform 10" id="10"/>
            <p:cNvSpPr/>
            <p:nvPr/>
          </p:nvSpPr>
          <p:spPr>
            <a:xfrm flipH="false" flipV="false" rot="0">
              <a:off x="0" y="0"/>
              <a:ext cx="2718359" cy="606489"/>
            </a:xfrm>
            <a:custGeom>
              <a:avLst/>
              <a:gdLst/>
              <a:ahLst/>
              <a:cxnLst/>
              <a:rect r="r" b="b" t="t" l="l"/>
              <a:pathLst>
                <a:path h="606489" w="2718359">
                  <a:moveTo>
                    <a:pt x="38255" y="0"/>
                  </a:moveTo>
                  <a:lnTo>
                    <a:pt x="2680104" y="0"/>
                  </a:lnTo>
                  <a:cubicBezTo>
                    <a:pt x="2690250" y="0"/>
                    <a:pt x="2699980" y="4030"/>
                    <a:pt x="2707154" y="11205"/>
                  </a:cubicBezTo>
                  <a:cubicBezTo>
                    <a:pt x="2714329" y="18379"/>
                    <a:pt x="2718359" y="28109"/>
                    <a:pt x="2718359" y="38255"/>
                  </a:cubicBezTo>
                  <a:lnTo>
                    <a:pt x="2718359" y="568235"/>
                  </a:lnTo>
                  <a:cubicBezTo>
                    <a:pt x="2718359" y="589362"/>
                    <a:pt x="2701232" y="606489"/>
                    <a:pt x="2680104" y="606489"/>
                  </a:cubicBezTo>
                  <a:lnTo>
                    <a:pt x="38255" y="606489"/>
                  </a:lnTo>
                  <a:cubicBezTo>
                    <a:pt x="28109" y="606489"/>
                    <a:pt x="18379" y="602459"/>
                    <a:pt x="11205" y="595285"/>
                  </a:cubicBezTo>
                  <a:cubicBezTo>
                    <a:pt x="4030" y="588111"/>
                    <a:pt x="0" y="578380"/>
                    <a:pt x="0" y="568235"/>
                  </a:cubicBezTo>
                  <a:lnTo>
                    <a:pt x="0" y="38255"/>
                  </a:lnTo>
                  <a:cubicBezTo>
                    <a:pt x="0" y="28109"/>
                    <a:pt x="4030" y="18379"/>
                    <a:pt x="11205" y="11205"/>
                  </a:cubicBezTo>
                  <a:cubicBezTo>
                    <a:pt x="18379" y="4030"/>
                    <a:pt x="28109" y="0"/>
                    <a:pt x="38255" y="0"/>
                  </a:cubicBezTo>
                  <a:close/>
                </a:path>
              </a:pathLst>
            </a:custGeom>
            <a:solidFill>
              <a:srgbClr val="02B676"/>
            </a:solidFill>
          </p:spPr>
        </p:sp>
        <p:sp>
          <p:nvSpPr>
            <p:cNvPr name="TextBox 11" id="11"/>
            <p:cNvSpPr txBox="true"/>
            <p:nvPr/>
          </p:nvSpPr>
          <p:spPr>
            <a:xfrm>
              <a:off x="0" y="-104775"/>
              <a:ext cx="2718359" cy="711264"/>
            </a:xfrm>
            <a:prstGeom prst="rect">
              <a:avLst/>
            </a:prstGeom>
          </p:spPr>
          <p:txBody>
            <a:bodyPr anchor="ctr" rtlCol="false" tIns="50800" lIns="50800" bIns="50800" rIns="50800"/>
            <a:lstStyle/>
            <a:p>
              <a:pPr algn="ctr">
                <a:lnSpc>
                  <a:spcPts val="4200"/>
                </a:lnSpc>
              </a:pPr>
              <a:r>
                <a:rPr lang="en-US" sz="3000" b="true">
                  <a:solidFill>
                    <a:srgbClr val="FFFFFF"/>
                  </a:solidFill>
                  <a:latin typeface="Telegraf Bold"/>
                  <a:ea typeface="Telegraf Bold"/>
                  <a:cs typeface="Telegraf Bold"/>
                  <a:sym typeface="Telegraf Bold"/>
                </a:rPr>
                <a:t>Opérations sur Titres du jour (En dehors des TCN) :</a:t>
              </a:r>
            </a:p>
            <a:p>
              <a:pPr algn="ctr">
                <a:lnSpc>
                  <a:spcPts val="4200"/>
                </a:lnSpc>
              </a:pPr>
              <a:r>
                <a:rPr lang="en-US" b="true" sz="3000">
                  <a:solidFill>
                    <a:srgbClr val="FFFFFF"/>
                  </a:solidFill>
                  <a:latin typeface="Telegraf Bold"/>
                  <a:ea typeface="Telegraf Bold"/>
                  <a:cs typeface="Telegraf Bold"/>
                  <a:sym typeface="Telegraf Bold"/>
                </a:rPr>
                <a:t> </a:t>
              </a:r>
              <a:r>
                <a:rPr lang="en-US" sz="3000">
                  <a:solidFill>
                    <a:srgbClr val="FFFFFF"/>
                  </a:solidFill>
                  <a:latin typeface="Telegraf"/>
                  <a:ea typeface="Telegraf"/>
                  <a:cs typeface="Telegraf"/>
                  <a:sym typeface="Telegraf"/>
                </a:rPr>
                <a:t>Elle détaille les transactions effectuées sur les titres admis, incluant les volumes échangés et les valeurs des transactions.</a:t>
              </a:r>
            </a:p>
          </p:txBody>
        </p:sp>
      </p:grpSp>
      <p:sp>
        <p:nvSpPr>
          <p:cNvPr name="Freeform 12" id="12"/>
          <p:cNvSpPr/>
          <p:nvPr/>
        </p:nvSpPr>
        <p:spPr>
          <a:xfrm flipH="false" flipV="false" rot="0">
            <a:off x="14785728" y="-6982"/>
            <a:ext cx="3250652" cy="1300261"/>
          </a:xfrm>
          <a:custGeom>
            <a:avLst/>
            <a:gdLst/>
            <a:ahLst/>
            <a:cxnLst/>
            <a:rect r="r" b="b" t="t" l="l"/>
            <a:pathLst>
              <a:path h="1300261" w="3250652">
                <a:moveTo>
                  <a:pt x="0" y="0"/>
                </a:moveTo>
                <a:lnTo>
                  <a:pt x="3250652" y="0"/>
                </a:lnTo>
                <a:lnTo>
                  <a:pt x="3250652" y="1300260"/>
                </a:lnTo>
                <a:lnTo>
                  <a:pt x="0" y="1300260"/>
                </a:lnTo>
                <a:lnTo>
                  <a:pt x="0" y="0"/>
                </a:lnTo>
                <a:close/>
              </a:path>
            </a:pathLst>
          </a:custGeom>
          <a:blipFill>
            <a:blip r:embed="rId2"/>
            <a:stretch>
              <a:fillRect l="0" t="0" r="0" b="0"/>
            </a:stretch>
          </a:blipFill>
        </p:spPr>
      </p:sp>
      <p:sp>
        <p:nvSpPr>
          <p:cNvPr name="TextBox 13" id="13"/>
          <p:cNvSpPr txBox="true"/>
          <p:nvPr/>
        </p:nvSpPr>
        <p:spPr>
          <a:xfrm rot="0">
            <a:off x="1267737" y="1987550"/>
            <a:ext cx="16230600" cy="1628775"/>
          </a:xfrm>
          <a:prstGeom prst="rect">
            <a:avLst/>
          </a:prstGeom>
        </p:spPr>
        <p:txBody>
          <a:bodyPr anchor="t" rtlCol="false" tIns="0" lIns="0" bIns="0" rIns="0">
            <a:spAutoFit/>
          </a:bodyPr>
          <a:lstStyle/>
          <a:p>
            <a:pPr algn="ctr">
              <a:lnSpc>
                <a:spcPts val="4200"/>
              </a:lnSpc>
              <a:spcBef>
                <a:spcPct val="0"/>
              </a:spcBef>
            </a:pPr>
            <a:r>
              <a:rPr lang="en-US" b="true" sz="3000">
                <a:solidFill>
                  <a:srgbClr val="290606"/>
                </a:solidFill>
                <a:latin typeface="Telegraf Bold"/>
                <a:ea typeface="Telegraf Bold"/>
                <a:cs typeface="Telegraf Bold"/>
                <a:sym typeface="Telegraf Bold"/>
              </a:rPr>
              <a:t>Le bulletin est organisé en plusieurs sections thématiques, chacune couvrant un aspect spécifique des activités du marché financier. Voici une présentation générale de ces sections :</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grpSp>
        <p:nvGrpSpPr>
          <p:cNvPr name="Group 2" id="2"/>
          <p:cNvGrpSpPr/>
          <p:nvPr/>
        </p:nvGrpSpPr>
        <p:grpSpPr>
          <a:xfrm rot="0">
            <a:off x="449109" y="471966"/>
            <a:ext cx="8030699" cy="3902964"/>
            <a:chOff x="0" y="0"/>
            <a:chExt cx="2115081" cy="1027941"/>
          </a:xfrm>
        </p:grpSpPr>
        <p:sp>
          <p:nvSpPr>
            <p:cNvPr name="Freeform 3" id="3"/>
            <p:cNvSpPr/>
            <p:nvPr/>
          </p:nvSpPr>
          <p:spPr>
            <a:xfrm flipH="false" flipV="false" rot="0">
              <a:off x="0" y="0"/>
              <a:ext cx="2115081" cy="1027941"/>
            </a:xfrm>
            <a:custGeom>
              <a:avLst/>
              <a:gdLst/>
              <a:ahLst/>
              <a:cxnLst/>
              <a:rect r="r" b="b" t="t" l="l"/>
              <a:pathLst>
                <a:path h="1027941" w="2115081">
                  <a:moveTo>
                    <a:pt x="49166" y="0"/>
                  </a:moveTo>
                  <a:lnTo>
                    <a:pt x="2065915" y="0"/>
                  </a:lnTo>
                  <a:cubicBezTo>
                    <a:pt x="2078955" y="0"/>
                    <a:pt x="2091461" y="5180"/>
                    <a:pt x="2100681" y="14400"/>
                  </a:cubicBezTo>
                  <a:cubicBezTo>
                    <a:pt x="2109901" y="23621"/>
                    <a:pt x="2115081" y="36126"/>
                    <a:pt x="2115081" y="49166"/>
                  </a:cubicBezTo>
                  <a:lnTo>
                    <a:pt x="2115081" y="978775"/>
                  </a:lnTo>
                  <a:cubicBezTo>
                    <a:pt x="2115081" y="1005929"/>
                    <a:pt x="2093069" y="1027941"/>
                    <a:pt x="2065915" y="1027941"/>
                  </a:cubicBezTo>
                  <a:lnTo>
                    <a:pt x="49166" y="1027941"/>
                  </a:lnTo>
                  <a:cubicBezTo>
                    <a:pt x="36126" y="1027941"/>
                    <a:pt x="23621" y="1022761"/>
                    <a:pt x="14400" y="1013541"/>
                  </a:cubicBezTo>
                  <a:cubicBezTo>
                    <a:pt x="5180" y="1004320"/>
                    <a:pt x="0" y="991815"/>
                    <a:pt x="0" y="978775"/>
                  </a:cubicBezTo>
                  <a:lnTo>
                    <a:pt x="0" y="49166"/>
                  </a:lnTo>
                  <a:cubicBezTo>
                    <a:pt x="0" y="36126"/>
                    <a:pt x="5180" y="23621"/>
                    <a:pt x="14400" y="14400"/>
                  </a:cubicBezTo>
                  <a:cubicBezTo>
                    <a:pt x="23621" y="5180"/>
                    <a:pt x="36126" y="0"/>
                    <a:pt x="49166" y="0"/>
                  </a:cubicBezTo>
                  <a:close/>
                </a:path>
              </a:pathLst>
            </a:custGeom>
            <a:solidFill>
              <a:srgbClr val="02B676"/>
            </a:solidFill>
          </p:spPr>
        </p:sp>
        <p:sp>
          <p:nvSpPr>
            <p:cNvPr name="TextBox 4" id="4"/>
            <p:cNvSpPr txBox="true"/>
            <p:nvPr/>
          </p:nvSpPr>
          <p:spPr>
            <a:xfrm>
              <a:off x="0" y="-104775"/>
              <a:ext cx="2115081" cy="1132716"/>
            </a:xfrm>
            <a:prstGeom prst="rect">
              <a:avLst/>
            </a:prstGeom>
          </p:spPr>
          <p:txBody>
            <a:bodyPr anchor="ctr" rtlCol="false" tIns="50800" lIns="50800" bIns="50800" rIns="50800"/>
            <a:lstStyle/>
            <a:p>
              <a:pPr algn="ctr">
                <a:lnSpc>
                  <a:spcPts val="4200"/>
                </a:lnSpc>
              </a:pPr>
              <a:r>
                <a:rPr lang="en-US" sz="3000" b="true">
                  <a:solidFill>
                    <a:srgbClr val="FFFFFF"/>
                  </a:solidFill>
                  <a:latin typeface="Telegraf Bold"/>
                  <a:ea typeface="Telegraf Bold"/>
                  <a:cs typeface="Telegraf Bold"/>
                  <a:sym typeface="Telegraf Bold"/>
                </a:rPr>
                <a:t>Les Opérations du Marché Secondaire des Bons du Trésor :</a:t>
              </a:r>
            </a:p>
            <a:p>
              <a:pPr algn="ctr">
                <a:lnSpc>
                  <a:spcPts val="4200"/>
                </a:lnSpc>
              </a:pPr>
              <a:r>
                <a:rPr lang="en-US" sz="3000">
                  <a:solidFill>
                    <a:srgbClr val="FFFFFF"/>
                  </a:solidFill>
                  <a:latin typeface="Telegraf"/>
                  <a:ea typeface="Telegraf"/>
                  <a:cs typeface="Telegraf"/>
                  <a:sym typeface="Telegraf"/>
                </a:rPr>
                <a:t> Cette section est subdivisé</a:t>
              </a:r>
              <a:r>
                <a:rPr lang="en-US" sz="3000">
                  <a:solidFill>
                    <a:srgbClr val="FFFFFF"/>
                  </a:solidFill>
                  <a:latin typeface="Telegraf"/>
                  <a:ea typeface="Telegraf"/>
                  <a:cs typeface="Telegraf"/>
                  <a:sym typeface="Telegraf"/>
                </a:rPr>
                <a:t>e pour présenter les différentes catégories d'opérations sur les Bons du Trésor, telles que les marchés de gré à gré et les interventions de la Banque Centrale.</a:t>
              </a:r>
            </a:p>
          </p:txBody>
        </p:sp>
      </p:grpSp>
      <p:grpSp>
        <p:nvGrpSpPr>
          <p:cNvPr name="Group 5" id="5"/>
          <p:cNvGrpSpPr/>
          <p:nvPr/>
        </p:nvGrpSpPr>
        <p:grpSpPr>
          <a:xfrm rot="0">
            <a:off x="9266709" y="1750209"/>
            <a:ext cx="7992591" cy="3369564"/>
            <a:chOff x="0" y="0"/>
            <a:chExt cx="2105045" cy="887457"/>
          </a:xfrm>
        </p:grpSpPr>
        <p:sp>
          <p:nvSpPr>
            <p:cNvPr name="Freeform 6" id="6"/>
            <p:cNvSpPr/>
            <p:nvPr/>
          </p:nvSpPr>
          <p:spPr>
            <a:xfrm flipH="false" flipV="false" rot="0">
              <a:off x="0" y="0"/>
              <a:ext cx="2105045" cy="887457"/>
            </a:xfrm>
            <a:custGeom>
              <a:avLst/>
              <a:gdLst/>
              <a:ahLst/>
              <a:cxnLst/>
              <a:rect r="r" b="b" t="t" l="l"/>
              <a:pathLst>
                <a:path h="887457" w="2105045">
                  <a:moveTo>
                    <a:pt x="49400" y="0"/>
                  </a:moveTo>
                  <a:lnTo>
                    <a:pt x="2055644" y="0"/>
                  </a:lnTo>
                  <a:cubicBezTo>
                    <a:pt x="2068746" y="0"/>
                    <a:pt x="2081311" y="5205"/>
                    <a:pt x="2090575" y="14469"/>
                  </a:cubicBezTo>
                  <a:cubicBezTo>
                    <a:pt x="2099840" y="23733"/>
                    <a:pt x="2105045" y="36299"/>
                    <a:pt x="2105045" y="49400"/>
                  </a:cubicBezTo>
                  <a:lnTo>
                    <a:pt x="2105045" y="838057"/>
                  </a:lnTo>
                  <a:cubicBezTo>
                    <a:pt x="2105045" y="851159"/>
                    <a:pt x="2099840" y="863724"/>
                    <a:pt x="2090575" y="872988"/>
                  </a:cubicBezTo>
                  <a:cubicBezTo>
                    <a:pt x="2081311" y="882253"/>
                    <a:pt x="2068746" y="887457"/>
                    <a:pt x="2055644" y="887457"/>
                  </a:cubicBezTo>
                  <a:lnTo>
                    <a:pt x="49400" y="887457"/>
                  </a:lnTo>
                  <a:cubicBezTo>
                    <a:pt x="36299" y="887457"/>
                    <a:pt x="23733" y="882253"/>
                    <a:pt x="14469" y="872988"/>
                  </a:cubicBezTo>
                  <a:cubicBezTo>
                    <a:pt x="5205" y="863724"/>
                    <a:pt x="0" y="851159"/>
                    <a:pt x="0" y="838057"/>
                  </a:cubicBezTo>
                  <a:lnTo>
                    <a:pt x="0" y="49400"/>
                  </a:lnTo>
                  <a:cubicBezTo>
                    <a:pt x="0" y="36299"/>
                    <a:pt x="5205" y="23733"/>
                    <a:pt x="14469" y="14469"/>
                  </a:cubicBezTo>
                  <a:cubicBezTo>
                    <a:pt x="23733" y="5205"/>
                    <a:pt x="36299" y="0"/>
                    <a:pt x="49400" y="0"/>
                  </a:cubicBezTo>
                  <a:close/>
                </a:path>
              </a:pathLst>
            </a:custGeom>
            <a:solidFill>
              <a:srgbClr val="FF3131"/>
            </a:solidFill>
          </p:spPr>
        </p:sp>
        <p:sp>
          <p:nvSpPr>
            <p:cNvPr name="TextBox 7" id="7"/>
            <p:cNvSpPr txBox="true"/>
            <p:nvPr/>
          </p:nvSpPr>
          <p:spPr>
            <a:xfrm>
              <a:off x="0" y="-104775"/>
              <a:ext cx="2105045" cy="992232"/>
            </a:xfrm>
            <a:prstGeom prst="rect">
              <a:avLst/>
            </a:prstGeom>
          </p:spPr>
          <p:txBody>
            <a:bodyPr anchor="ctr" rtlCol="false" tIns="50800" lIns="50800" bIns="50800" rIns="50800"/>
            <a:lstStyle/>
            <a:p>
              <a:pPr algn="ctr">
                <a:lnSpc>
                  <a:spcPts val="4200"/>
                </a:lnSpc>
              </a:pPr>
              <a:r>
                <a:rPr lang="en-US" sz="3000" b="true">
                  <a:solidFill>
                    <a:srgbClr val="FFFFFF"/>
                  </a:solidFill>
                  <a:latin typeface="Telegraf Bold"/>
                  <a:ea typeface="Telegraf Bold"/>
                  <a:cs typeface="Telegraf Bold"/>
                  <a:sym typeface="Telegraf Bold"/>
                </a:rPr>
                <a:t>Pension Livrée :</a:t>
              </a:r>
            </a:p>
            <a:p>
              <a:pPr algn="ctr">
                <a:lnSpc>
                  <a:spcPts val="4200"/>
                </a:lnSpc>
              </a:pPr>
              <a:r>
                <a:rPr lang="en-US" b="true" sz="3000">
                  <a:solidFill>
                    <a:srgbClr val="FFFFFF"/>
                  </a:solidFill>
                  <a:latin typeface="Telegraf Bold"/>
                  <a:ea typeface="Telegraf Bold"/>
                  <a:cs typeface="Telegraf Bold"/>
                  <a:sym typeface="Telegraf Bold"/>
                </a:rPr>
                <a:t> </a:t>
              </a:r>
              <a:r>
                <a:rPr lang="en-US" sz="3000">
                  <a:solidFill>
                    <a:srgbClr val="FFFFFF"/>
                  </a:solidFill>
                  <a:latin typeface="Telegraf"/>
                  <a:ea typeface="Telegraf"/>
                  <a:cs typeface="Telegraf"/>
                  <a:sym typeface="Telegraf"/>
                </a:rPr>
                <a:t>Elle couvre les opérations de pension livrée, incluant les mises en pension, les rétrocessions et les données de référence annuelles.</a:t>
              </a:r>
            </a:p>
          </p:txBody>
        </p:sp>
      </p:grpSp>
      <p:grpSp>
        <p:nvGrpSpPr>
          <p:cNvPr name="Group 8" id="8"/>
          <p:cNvGrpSpPr/>
          <p:nvPr/>
        </p:nvGrpSpPr>
        <p:grpSpPr>
          <a:xfrm rot="0">
            <a:off x="578671" y="5119774"/>
            <a:ext cx="8337472" cy="2836164"/>
            <a:chOff x="0" y="0"/>
            <a:chExt cx="2195877" cy="746973"/>
          </a:xfrm>
        </p:grpSpPr>
        <p:sp>
          <p:nvSpPr>
            <p:cNvPr name="Freeform 9" id="9"/>
            <p:cNvSpPr/>
            <p:nvPr/>
          </p:nvSpPr>
          <p:spPr>
            <a:xfrm flipH="false" flipV="false" rot="0">
              <a:off x="0" y="0"/>
              <a:ext cx="2195877" cy="746973"/>
            </a:xfrm>
            <a:custGeom>
              <a:avLst/>
              <a:gdLst/>
              <a:ahLst/>
              <a:cxnLst/>
              <a:rect r="r" b="b" t="t" l="l"/>
              <a:pathLst>
                <a:path h="746973" w="2195877">
                  <a:moveTo>
                    <a:pt x="47357" y="0"/>
                  </a:moveTo>
                  <a:lnTo>
                    <a:pt x="2148520" y="0"/>
                  </a:lnTo>
                  <a:cubicBezTo>
                    <a:pt x="2161080" y="0"/>
                    <a:pt x="2173126" y="4989"/>
                    <a:pt x="2182007" y="13871"/>
                  </a:cubicBezTo>
                  <a:cubicBezTo>
                    <a:pt x="2190888" y="22752"/>
                    <a:pt x="2195877" y="34797"/>
                    <a:pt x="2195877" y="47357"/>
                  </a:cubicBezTo>
                  <a:lnTo>
                    <a:pt x="2195877" y="699616"/>
                  </a:lnTo>
                  <a:cubicBezTo>
                    <a:pt x="2195877" y="725771"/>
                    <a:pt x="2174675" y="746973"/>
                    <a:pt x="2148520" y="746973"/>
                  </a:cubicBezTo>
                  <a:lnTo>
                    <a:pt x="47357" y="746973"/>
                  </a:lnTo>
                  <a:cubicBezTo>
                    <a:pt x="34797" y="746973"/>
                    <a:pt x="22752" y="741984"/>
                    <a:pt x="13871" y="733103"/>
                  </a:cubicBezTo>
                  <a:cubicBezTo>
                    <a:pt x="4989" y="724222"/>
                    <a:pt x="0" y="712176"/>
                    <a:pt x="0" y="699616"/>
                  </a:cubicBezTo>
                  <a:lnTo>
                    <a:pt x="0" y="47357"/>
                  </a:lnTo>
                  <a:cubicBezTo>
                    <a:pt x="0" y="34797"/>
                    <a:pt x="4989" y="22752"/>
                    <a:pt x="13871" y="13871"/>
                  </a:cubicBezTo>
                  <a:cubicBezTo>
                    <a:pt x="22752" y="4989"/>
                    <a:pt x="34797" y="0"/>
                    <a:pt x="47357" y="0"/>
                  </a:cubicBezTo>
                  <a:close/>
                </a:path>
              </a:pathLst>
            </a:custGeom>
            <a:solidFill>
              <a:srgbClr val="02B676"/>
            </a:solidFill>
          </p:spPr>
        </p:sp>
        <p:sp>
          <p:nvSpPr>
            <p:cNvPr name="TextBox 10" id="10"/>
            <p:cNvSpPr txBox="true"/>
            <p:nvPr/>
          </p:nvSpPr>
          <p:spPr>
            <a:xfrm>
              <a:off x="0" y="-104775"/>
              <a:ext cx="2195877" cy="851748"/>
            </a:xfrm>
            <a:prstGeom prst="rect">
              <a:avLst/>
            </a:prstGeom>
          </p:spPr>
          <p:txBody>
            <a:bodyPr anchor="ctr" rtlCol="false" tIns="50800" lIns="50800" bIns="50800" rIns="50800"/>
            <a:lstStyle/>
            <a:p>
              <a:pPr algn="ctr">
                <a:lnSpc>
                  <a:spcPts val="4200"/>
                </a:lnSpc>
              </a:pPr>
              <a:r>
                <a:rPr lang="en-US" sz="3000" b="true">
                  <a:solidFill>
                    <a:srgbClr val="FFFFFF"/>
                  </a:solidFill>
                  <a:latin typeface="Telegraf Bold"/>
                  <a:ea typeface="Telegraf Bold"/>
                  <a:cs typeface="Telegraf Bold"/>
                  <a:sym typeface="Telegraf Bold"/>
                </a:rPr>
                <a:t>Marché Boursier :</a:t>
              </a:r>
            </a:p>
            <a:p>
              <a:pPr algn="ctr">
                <a:lnSpc>
                  <a:spcPts val="4200"/>
                </a:lnSpc>
              </a:pPr>
              <a:r>
                <a:rPr lang="en-US" b="true" sz="3000">
                  <a:solidFill>
                    <a:srgbClr val="FFFFFF"/>
                  </a:solidFill>
                  <a:latin typeface="Telegraf Bold"/>
                  <a:ea typeface="Telegraf Bold"/>
                  <a:cs typeface="Telegraf Bold"/>
                  <a:sym typeface="Telegraf Bold"/>
                </a:rPr>
                <a:t> </a:t>
              </a:r>
              <a:r>
                <a:rPr lang="en-US" sz="3000">
                  <a:solidFill>
                    <a:srgbClr val="FFFFFF"/>
                  </a:solidFill>
                  <a:latin typeface="Telegraf"/>
                  <a:ea typeface="Telegraf"/>
                  <a:cs typeface="Telegraf"/>
                  <a:sym typeface="Telegraf"/>
                </a:rPr>
                <a:t>Cette section présente les opérations réalisées sur le marché boursier, incluant les volumes et valeurs des transactions ainsi que l'évolution des indices boursiers.</a:t>
              </a:r>
            </a:p>
          </p:txBody>
        </p:sp>
      </p:grpSp>
      <p:sp>
        <p:nvSpPr>
          <p:cNvPr name="Freeform 11" id="11"/>
          <p:cNvSpPr/>
          <p:nvPr/>
        </p:nvSpPr>
        <p:spPr>
          <a:xfrm flipH="false" flipV="false" rot="0">
            <a:off x="14785728" y="-6982"/>
            <a:ext cx="3250652" cy="1300261"/>
          </a:xfrm>
          <a:custGeom>
            <a:avLst/>
            <a:gdLst/>
            <a:ahLst/>
            <a:cxnLst/>
            <a:rect r="r" b="b" t="t" l="l"/>
            <a:pathLst>
              <a:path h="1300261" w="3250652">
                <a:moveTo>
                  <a:pt x="0" y="0"/>
                </a:moveTo>
                <a:lnTo>
                  <a:pt x="3250652" y="0"/>
                </a:lnTo>
                <a:lnTo>
                  <a:pt x="3250652" y="1300260"/>
                </a:lnTo>
                <a:lnTo>
                  <a:pt x="0" y="1300260"/>
                </a:lnTo>
                <a:lnTo>
                  <a:pt x="0" y="0"/>
                </a:lnTo>
                <a:close/>
              </a:path>
            </a:pathLst>
          </a:custGeom>
          <a:blipFill>
            <a:blip r:embed="rId2"/>
            <a:stretch>
              <a:fillRect l="0" t="0" r="0" b="0"/>
            </a:stretch>
          </a:blipFill>
        </p:spPr>
      </p:sp>
      <p:grpSp>
        <p:nvGrpSpPr>
          <p:cNvPr name="Group 12" id="12"/>
          <p:cNvGrpSpPr/>
          <p:nvPr/>
        </p:nvGrpSpPr>
        <p:grpSpPr>
          <a:xfrm rot="0">
            <a:off x="9607028" y="6537856"/>
            <a:ext cx="7774981" cy="3369564"/>
            <a:chOff x="0" y="0"/>
            <a:chExt cx="2047732" cy="887457"/>
          </a:xfrm>
        </p:grpSpPr>
        <p:sp>
          <p:nvSpPr>
            <p:cNvPr name="Freeform 13" id="13"/>
            <p:cNvSpPr/>
            <p:nvPr/>
          </p:nvSpPr>
          <p:spPr>
            <a:xfrm flipH="false" flipV="false" rot="0">
              <a:off x="0" y="0"/>
              <a:ext cx="2047732" cy="887457"/>
            </a:xfrm>
            <a:custGeom>
              <a:avLst/>
              <a:gdLst/>
              <a:ahLst/>
              <a:cxnLst/>
              <a:rect r="r" b="b" t="t" l="l"/>
              <a:pathLst>
                <a:path h="887457" w="2047732">
                  <a:moveTo>
                    <a:pt x="50783" y="0"/>
                  </a:moveTo>
                  <a:lnTo>
                    <a:pt x="1996948" y="0"/>
                  </a:lnTo>
                  <a:cubicBezTo>
                    <a:pt x="2010417" y="0"/>
                    <a:pt x="2023334" y="5350"/>
                    <a:pt x="2032858" y="14874"/>
                  </a:cubicBezTo>
                  <a:cubicBezTo>
                    <a:pt x="2042381" y="24398"/>
                    <a:pt x="2047732" y="37315"/>
                    <a:pt x="2047732" y="50783"/>
                  </a:cubicBezTo>
                  <a:lnTo>
                    <a:pt x="2047732" y="836674"/>
                  </a:lnTo>
                  <a:cubicBezTo>
                    <a:pt x="2047732" y="850143"/>
                    <a:pt x="2042381" y="863060"/>
                    <a:pt x="2032858" y="872583"/>
                  </a:cubicBezTo>
                  <a:cubicBezTo>
                    <a:pt x="2023334" y="882107"/>
                    <a:pt x="2010417" y="887457"/>
                    <a:pt x="1996948" y="887457"/>
                  </a:cubicBezTo>
                  <a:lnTo>
                    <a:pt x="50783" y="887457"/>
                  </a:lnTo>
                  <a:cubicBezTo>
                    <a:pt x="37315" y="887457"/>
                    <a:pt x="24398" y="882107"/>
                    <a:pt x="14874" y="872583"/>
                  </a:cubicBezTo>
                  <a:cubicBezTo>
                    <a:pt x="5350" y="863060"/>
                    <a:pt x="0" y="850143"/>
                    <a:pt x="0" y="836674"/>
                  </a:cubicBezTo>
                  <a:lnTo>
                    <a:pt x="0" y="50783"/>
                  </a:lnTo>
                  <a:cubicBezTo>
                    <a:pt x="0" y="37315"/>
                    <a:pt x="5350" y="24398"/>
                    <a:pt x="14874" y="14874"/>
                  </a:cubicBezTo>
                  <a:cubicBezTo>
                    <a:pt x="24398" y="5350"/>
                    <a:pt x="37315" y="0"/>
                    <a:pt x="50783" y="0"/>
                  </a:cubicBezTo>
                  <a:close/>
                </a:path>
              </a:pathLst>
            </a:custGeom>
            <a:solidFill>
              <a:srgbClr val="02B676"/>
            </a:solidFill>
          </p:spPr>
        </p:sp>
        <p:sp>
          <p:nvSpPr>
            <p:cNvPr name="TextBox 14" id="14"/>
            <p:cNvSpPr txBox="true"/>
            <p:nvPr/>
          </p:nvSpPr>
          <p:spPr>
            <a:xfrm>
              <a:off x="0" y="-104775"/>
              <a:ext cx="2047732" cy="992232"/>
            </a:xfrm>
            <a:prstGeom prst="rect">
              <a:avLst/>
            </a:prstGeom>
          </p:spPr>
          <p:txBody>
            <a:bodyPr anchor="ctr" rtlCol="false" tIns="50800" lIns="50800" bIns="50800" rIns="50800"/>
            <a:lstStyle/>
            <a:p>
              <a:pPr algn="ctr">
                <a:lnSpc>
                  <a:spcPts val="4200"/>
                </a:lnSpc>
              </a:pPr>
              <a:r>
                <a:rPr lang="en-US" sz="3000" b="true">
                  <a:solidFill>
                    <a:srgbClr val="FFFFFF"/>
                  </a:solidFill>
                  <a:latin typeface="Telegraf Bold"/>
                  <a:ea typeface="Telegraf Bold"/>
                  <a:cs typeface="Telegraf Bold"/>
                  <a:sym typeface="Telegraf Bold"/>
                </a:rPr>
                <a:t>Les Titres de Créances Négociables (TCN) :</a:t>
              </a:r>
            </a:p>
            <a:p>
              <a:pPr algn="ctr">
                <a:lnSpc>
                  <a:spcPts val="4200"/>
                </a:lnSpc>
              </a:pPr>
              <a:r>
                <a:rPr lang="en-US" sz="3000">
                  <a:solidFill>
                    <a:srgbClr val="FFFFFF"/>
                  </a:solidFill>
                  <a:latin typeface="Telegraf"/>
                  <a:ea typeface="Telegraf"/>
                  <a:cs typeface="Telegraf"/>
                  <a:sym typeface="Telegraf"/>
                </a:rPr>
                <a:t> Elle fournit des informations sur les TCN, incluant les certificats de dépôt et les billets de trésorerie, avec des données spécifiques à chaque type de titre.</a:t>
              </a: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1028700" y="1019175"/>
            <a:ext cx="8690639"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7. UTILITÉ DU BULLETIN :</a:t>
            </a:r>
          </a:p>
        </p:txBody>
      </p:sp>
      <p:sp>
        <p:nvSpPr>
          <p:cNvPr name="Freeform 3" id="3"/>
          <p:cNvSpPr/>
          <p:nvPr/>
        </p:nvSpPr>
        <p:spPr>
          <a:xfrm flipH="false" flipV="false" rot="0">
            <a:off x="14785728" y="-6982"/>
            <a:ext cx="3250652" cy="1300261"/>
          </a:xfrm>
          <a:custGeom>
            <a:avLst/>
            <a:gdLst/>
            <a:ahLst/>
            <a:cxnLst/>
            <a:rect r="r" b="b" t="t" l="l"/>
            <a:pathLst>
              <a:path h="1300261" w="3250652">
                <a:moveTo>
                  <a:pt x="0" y="0"/>
                </a:moveTo>
                <a:lnTo>
                  <a:pt x="3250652" y="0"/>
                </a:lnTo>
                <a:lnTo>
                  <a:pt x="3250652" y="1300260"/>
                </a:lnTo>
                <a:lnTo>
                  <a:pt x="0" y="1300260"/>
                </a:lnTo>
                <a:lnTo>
                  <a:pt x="0" y="0"/>
                </a:lnTo>
                <a:close/>
              </a:path>
            </a:pathLst>
          </a:custGeom>
          <a:blipFill>
            <a:blip r:embed="rId2"/>
            <a:stretch>
              <a:fillRect l="0" t="0" r="0" b="0"/>
            </a:stretch>
          </a:blipFill>
        </p:spPr>
      </p:sp>
      <p:sp>
        <p:nvSpPr>
          <p:cNvPr name="TextBox 4" id="4"/>
          <p:cNvSpPr txBox="true"/>
          <p:nvPr/>
        </p:nvSpPr>
        <p:spPr>
          <a:xfrm rot="0">
            <a:off x="7984337" y="3228996"/>
            <a:ext cx="9010540" cy="4189082"/>
          </a:xfrm>
          <a:prstGeom prst="rect">
            <a:avLst/>
          </a:prstGeom>
        </p:spPr>
        <p:txBody>
          <a:bodyPr anchor="t" rtlCol="false" tIns="0" lIns="0" bIns="0" rIns="0">
            <a:spAutoFit/>
          </a:bodyPr>
          <a:lstStyle/>
          <a:p>
            <a:pPr algn="l">
              <a:lnSpc>
                <a:spcPts val="3639"/>
              </a:lnSpc>
            </a:pPr>
            <a:r>
              <a:rPr lang="en-US" sz="3033" spc="148">
                <a:solidFill>
                  <a:srgbClr val="290606"/>
                </a:solidFill>
                <a:latin typeface="Telegraf"/>
                <a:ea typeface="Telegraf"/>
                <a:cs typeface="Telegraf"/>
                <a:sym typeface="Telegraf"/>
              </a:rPr>
              <a:t>Ce bulletin est essentiel pour assurer la transparence et la confiance sur les marchés financiers tunisiens. Il permet aux acteurs du marché de suivre l'activité quotidienne, d'analyser les tendances et de prendre des décisions éclairées. De plus, il sert de référence pour les régulateurs et les autorités de supervision afin de surveiller le bon fonctionnement du marché.</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TextBox 2" id="2"/>
          <p:cNvSpPr txBox="true"/>
          <p:nvPr/>
        </p:nvSpPr>
        <p:spPr>
          <a:xfrm rot="0">
            <a:off x="1028700" y="1019175"/>
            <a:ext cx="14966557"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8. QU’EST-CE QU’UNE « PENSION LIVRÉE » :</a:t>
            </a:r>
          </a:p>
        </p:txBody>
      </p:sp>
      <p:sp>
        <p:nvSpPr>
          <p:cNvPr name="TextBox 3" id="3"/>
          <p:cNvSpPr txBox="true"/>
          <p:nvPr/>
        </p:nvSpPr>
        <p:spPr>
          <a:xfrm rot="0">
            <a:off x="7781084" y="2634961"/>
            <a:ext cx="8897921" cy="3705225"/>
          </a:xfrm>
          <a:prstGeom prst="rect">
            <a:avLst/>
          </a:prstGeom>
        </p:spPr>
        <p:txBody>
          <a:bodyPr anchor="t" rtlCol="false" tIns="0" lIns="0" bIns="0" rIns="0">
            <a:spAutoFit/>
          </a:bodyPr>
          <a:lstStyle/>
          <a:p>
            <a:pPr algn="l">
              <a:lnSpc>
                <a:spcPts val="3600"/>
              </a:lnSpc>
            </a:pPr>
            <a:r>
              <a:rPr lang="en-US" sz="3000" spc="147">
                <a:solidFill>
                  <a:srgbClr val="290606"/>
                </a:solidFill>
                <a:latin typeface="Telegraf"/>
                <a:ea typeface="Telegraf"/>
                <a:cs typeface="Telegraf"/>
                <a:sym typeface="Telegraf"/>
              </a:rPr>
              <a:t>Une pension livrée, ou « repo » (repurchase agreement), est un contrat financier dans lequel une partie (le cédant) vend temporairement des titres (souvent des bons du Trésor ou obligations) à une autre partie (le cessionnaire), avec l’engagement de racheter ces titres à une date future et à un prix convenu, incluant un intérêt </a:t>
            </a:r>
          </a:p>
        </p:txBody>
      </p:sp>
      <p:sp>
        <p:nvSpPr>
          <p:cNvPr name="TextBox 4" id="4"/>
          <p:cNvSpPr txBox="true"/>
          <p:nvPr/>
        </p:nvSpPr>
        <p:spPr>
          <a:xfrm rot="0">
            <a:off x="7409695" y="6726973"/>
            <a:ext cx="9269310" cy="2552700"/>
          </a:xfrm>
          <a:prstGeom prst="rect">
            <a:avLst/>
          </a:prstGeom>
        </p:spPr>
        <p:txBody>
          <a:bodyPr anchor="t" rtlCol="false" tIns="0" lIns="0" bIns="0" rIns="0">
            <a:spAutoFit/>
          </a:bodyPr>
          <a:lstStyle/>
          <a:p>
            <a:pPr algn="l" marL="604523" indent="-302261" lvl="1">
              <a:lnSpc>
                <a:spcPts val="3360"/>
              </a:lnSpc>
              <a:buFont typeface="Arial"/>
              <a:buChar char="•"/>
            </a:pPr>
            <a:r>
              <a:rPr lang="en-US" b="true" sz="2800" spc="137">
                <a:solidFill>
                  <a:srgbClr val="290606"/>
                </a:solidFill>
                <a:latin typeface="Telegraf Bold"/>
                <a:ea typeface="Telegraf Bold"/>
                <a:cs typeface="Telegraf Bold"/>
                <a:sym typeface="Telegraf Bold"/>
              </a:rPr>
              <a:t>But principal</a:t>
            </a:r>
            <a:r>
              <a:rPr lang="en-US" sz="2800" spc="137">
                <a:solidFill>
                  <a:srgbClr val="290606"/>
                </a:solidFill>
                <a:latin typeface="Telegraf"/>
                <a:ea typeface="Telegraf"/>
                <a:cs typeface="Telegraf"/>
                <a:sym typeface="Telegraf"/>
              </a:rPr>
              <a:t> : fournir ou capter de la liquidité à court terme, sécurisée par des titres en garantie.</a:t>
            </a:r>
          </a:p>
          <a:p>
            <a:pPr algn="l" marL="604523" indent="-302261" lvl="1">
              <a:lnSpc>
                <a:spcPts val="3360"/>
              </a:lnSpc>
              <a:buFont typeface="Arial"/>
              <a:buChar char="•"/>
            </a:pPr>
            <a:r>
              <a:rPr lang="en-US" b="true" sz="2800" spc="137">
                <a:solidFill>
                  <a:srgbClr val="290606"/>
                </a:solidFill>
                <a:latin typeface="Telegraf Bold"/>
                <a:ea typeface="Telegraf Bold"/>
                <a:cs typeface="Telegraf Bold"/>
                <a:sym typeface="Telegraf Bold"/>
              </a:rPr>
              <a:t>Participants typiques</a:t>
            </a:r>
            <a:r>
              <a:rPr lang="en-US" sz="2800" spc="137">
                <a:solidFill>
                  <a:srgbClr val="290606"/>
                </a:solidFill>
                <a:latin typeface="Telegraf"/>
                <a:ea typeface="Telegraf"/>
                <a:cs typeface="Telegraf"/>
                <a:sym typeface="Telegraf"/>
              </a:rPr>
              <a:t> : banques, OPCVM, institutions financières</a:t>
            </a:r>
          </a:p>
          <a:p>
            <a:pPr algn="l">
              <a:lnSpc>
                <a:spcPts val="3360"/>
              </a:lnSpc>
            </a:pPr>
          </a:p>
        </p:txBody>
      </p:sp>
      <p:sp>
        <p:nvSpPr>
          <p:cNvPr name="Freeform 5" id="5"/>
          <p:cNvSpPr/>
          <p:nvPr/>
        </p:nvSpPr>
        <p:spPr>
          <a:xfrm flipH="false" flipV="false" rot="0">
            <a:off x="14785728" y="-6982"/>
            <a:ext cx="3250652" cy="1300261"/>
          </a:xfrm>
          <a:custGeom>
            <a:avLst/>
            <a:gdLst/>
            <a:ahLst/>
            <a:cxnLst/>
            <a:rect r="r" b="b" t="t" l="l"/>
            <a:pathLst>
              <a:path h="1300261" w="3250652">
                <a:moveTo>
                  <a:pt x="0" y="0"/>
                </a:moveTo>
                <a:lnTo>
                  <a:pt x="3250652" y="0"/>
                </a:lnTo>
                <a:lnTo>
                  <a:pt x="3250652" y="1300260"/>
                </a:lnTo>
                <a:lnTo>
                  <a:pt x="0" y="1300260"/>
                </a:lnTo>
                <a:lnTo>
                  <a:pt x="0" y="0"/>
                </a:lnTo>
                <a:close/>
              </a:path>
            </a:pathLst>
          </a:custGeom>
          <a:blipFill>
            <a:blip r:embed="rId2"/>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grpSp>
        <p:nvGrpSpPr>
          <p:cNvPr name="Group 2" id="2"/>
          <p:cNvGrpSpPr/>
          <p:nvPr/>
        </p:nvGrpSpPr>
        <p:grpSpPr>
          <a:xfrm rot="0">
            <a:off x="2424378" y="2814416"/>
            <a:ext cx="3984347" cy="7011285"/>
            <a:chOff x="0" y="0"/>
            <a:chExt cx="1737573" cy="3057621"/>
          </a:xfrm>
        </p:grpSpPr>
        <p:sp>
          <p:nvSpPr>
            <p:cNvPr name="Freeform 3" id="3"/>
            <p:cNvSpPr/>
            <p:nvPr/>
          </p:nvSpPr>
          <p:spPr>
            <a:xfrm flipH="false" flipV="false" rot="0">
              <a:off x="0" y="0"/>
              <a:ext cx="1737573" cy="3057621"/>
            </a:xfrm>
            <a:custGeom>
              <a:avLst/>
              <a:gdLst/>
              <a:ahLst/>
              <a:cxnLst/>
              <a:rect r="r" b="b" t="t" l="l"/>
              <a:pathLst>
                <a:path h="3057621" w="1737573">
                  <a:moveTo>
                    <a:pt x="19431" y="0"/>
                  </a:moveTo>
                  <a:lnTo>
                    <a:pt x="1718142" y="0"/>
                  </a:lnTo>
                  <a:cubicBezTo>
                    <a:pt x="1723296" y="0"/>
                    <a:pt x="1728238" y="2047"/>
                    <a:pt x="1731882" y="5691"/>
                  </a:cubicBezTo>
                  <a:cubicBezTo>
                    <a:pt x="1735526" y="9335"/>
                    <a:pt x="1737573" y="14277"/>
                    <a:pt x="1737573" y="19431"/>
                  </a:cubicBezTo>
                  <a:lnTo>
                    <a:pt x="1737573" y="3038190"/>
                  </a:lnTo>
                  <a:cubicBezTo>
                    <a:pt x="1737573" y="3048921"/>
                    <a:pt x="1728874" y="3057621"/>
                    <a:pt x="1718142" y="3057621"/>
                  </a:cubicBezTo>
                  <a:lnTo>
                    <a:pt x="19431" y="3057621"/>
                  </a:lnTo>
                  <a:cubicBezTo>
                    <a:pt x="14277" y="3057621"/>
                    <a:pt x="9335" y="3055574"/>
                    <a:pt x="5691" y="3051930"/>
                  </a:cubicBezTo>
                  <a:cubicBezTo>
                    <a:pt x="2047" y="3048286"/>
                    <a:pt x="0" y="3043343"/>
                    <a:pt x="0" y="3038190"/>
                  </a:cubicBezTo>
                  <a:lnTo>
                    <a:pt x="0" y="19431"/>
                  </a:lnTo>
                  <a:cubicBezTo>
                    <a:pt x="0" y="14277"/>
                    <a:pt x="2047" y="9335"/>
                    <a:pt x="5691" y="5691"/>
                  </a:cubicBezTo>
                  <a:cubicBezTo>
                    <a:pt x="9335" y="2047"/>
                    <a:pt x="14277" y="0"/>
                    <a:pt x="19431" y="0"/>
                  </a:cubicBezTo>
                  <a:close/>
                </a:path>
              </a:pathLst>
            </a:custGeom>
            <a:solidFill>
              <a:srgbClr val="02B676">
                <a:alpha val="69804"/>
              </a:srgbClr>
            </a:solidFill>
          </p:spPr>
        </p:sp>
        <p:sp>
          <p:nvSpPr>
            <p:cNvPr name="TextBox 4" id="4"/>
            <p:cNvSpPr txBox="true"/>
            <p:nvPr/>
          </p:nvSpPr>
          <p:spPr>
            <a:xfrm>
              <a:off x="0" y="-38100"/>
              <a:ext cx="1737573" cy="3095721"/>
            </a:xfrm>
            <a:prstGeom prst="rect">
              <a:avLst/>
            </a:prstGeom>
          </p:spPr>
          <p:txBody>
            <a:bodyPr anchor="ctr" rtlCol="false" tIns="80497" lIns="80497" bIns="80497" rIns="80497"/>
            <a:lstStyle/>
            <a:p>
              <a:pPr algn="ctr">
                <a:lnSpc>
                  <a:spcPts val="3599"/>
                </a:lnSpc>
              </a:pPr>
            </a:p>
          </p:txBody>
        </p:sp>
      </p:grpSp>
      <p:grpSp>
        <p:nvGrpSpPr>
          <p:cNvPr name="Group 5" id="5"/>
          <p:cNvGrpSpPr/>
          <p:nvPr/>
        </p:nvGrpSpPr>
        <p:grpSpPr>
          <a:xfrm rot="0">
            <a:off x="7151827" y="2814416"/>
            <a:ext cx="3984347" cy="7011285"/>
            <a:chOff x="0" y="0"/>
            <a:chExt cx="1737573" cy="3057621"/>
          </a:xfrm>
        </p:grpSpPr>
        <p:sp>
          <p:nvSpPr>
            <p:cNvPr name="Freeform 6" id="6"/>
            <p:cNvSpPr/>
            <p:nvPr/>
          </p:nvSpPr>
          <p:spPr>
            <a:xfrm flipH="false" flipV="false" rot="0">
              <a:off x="0" y="0"/>
              <a:ext cx="1737573" cy="3057621"/>
            </a:xfrm>
            <a:custGeom>
              <a:avLst/>
              <a:gdLst/>
              <a:ahLst/>
              <a:cxnLst/>
              <a:rect r="r" b="b" t="t" l="l"/>
              <a:pathLst>
                <a:path h="3057621" w="1737573">
                  <a:moveTo>
                    <a:pt x="19431" y="0"/>
                  </a:moveTo>
                  <a:lnTo>
                    <a:pt x="1718142" y="0"/>
                  </a:lnTo>
                  <a:cubicBezTo>
                    <a:pt x="1723296" y="0"/>
                    <a:pt x="1728238" y="2047"/>
                    <a:pt x="1731882" y="5691"/>
                  </a:cubicBezTo>
                  <a:cubicBezTo>
                    <a:pt x="1735526" y="9335"/>
                    <a:pt x="1737573" y="14277"/>
                    <a:pt x="1737573" y="19431"/>
                  </a:cubicBezTo>
                  <a:lnTo>
                    <a:pt x="1737573" y="3038190"/>
                  </a:lnTo>
                  <a:cubicBezTo>
                    <a:pt x="1737573" y="3048921"/>
                    <a:pt x="1728874" y="3057621"/>
                    <a:pt x="1718142" y="3057621"/>
                  </a:cubicBezTo>
                  <a:lnTo>
                    <a:pt x="19431" y="3057621"/>
                  </a:lnTo>
                  <a:cubicBezTo>
                    <a:pt x="14277" y="3057621"/>
                    <a:pt x="9335" y="3055574"/>
                    <a:pt x="5691" y="3051930"/>
                  </a:cubicBezTo>
                  <a:cubicBezTo>
                    <a:pt x="2047" y="3048286"/>
                    <a:pt x="0" y="3043343"/>
                    <a:pt x="0" y="3038190"/>
                  </a:cubicBezTo>
                  <a:lnTo>
                    <a:pt x="0" y="19431"/>
                  </a:lnTo>
                  <a:cubicBezTo>
                    <a:pt x="0" y="14277"/>
                    <a:pt x="2047" y="9335"/>
                    <a:pt x="5691" y="5691"/>
                  </a:cubicBezTo>
                  <a:cubicBezTo>
                    <a:pt x="9335" y="2047"/>
                    <a:pt x="14277" y="0"/>
                    <a:pt x="19431" y="0"/>
                  </a:cubicBezTo>
                  <a:close/>
                </a:path>
              </a:pathLst>
            </a:custGeom>
            <a:solidFill>
              <a:srgbClr val="02B676">
                <a:alpha val="69804"/>
              </a:srgbClr>
            </a:solidFill>
          </p:spPr>
        </p:sp>
        <p:sp>
          <p:nvSpPr>
            <p:cNvPr name="TextBox 7" id="7"/>
            <p:cNvSpPr txBox="true"/>
            <p:nvPr/>
          </p:nvSpPr>
          <p:spPr>
            <a:xfrm>
              <a:off x="0" y="-38100"/>
              <a:ext cx="1737573" cy="3095721"/>
            </a:xfrm>
            <a:prstGeom prst="rect">
              <a:avLst/>
            </a:prstGeom>
          </p:spPr>
          <p:txBody>
            <a:bodyPr anchor="ctr" rtlCol="false" tIns="80497" lIns="80497" bIns="80497" rIns="80497"/>
            <a:lstStyle/>
            <a:p>
              <a:pPr algn="ctr">
                <a:lnSpc>
                  <a:spcPts val="3599"/>
                </a:lnSpc>
              </a:pPr>
            </a:p>
          </p:txBody>
        </p:sp>
      </p:grpSp>
      <p:grpSp>
        <p:nvGrpSpPr>
          <p:cNvPr name="Group 8" id="8"/>
          <p:cNvGrpSpPr/>
          <p:nvPr/>
        </p:nvGrpSpPr>
        <p:grpSpPr>
          <a:xfrm rot="0">
            <a:off x="11879275" y="2814416"/>
            <a:ext cx="3984347" cy="6847673"/>
            <a:chOff x="0" y="0"/>
            <a:chExt cx="1737573" cy="2986269"/>
          </a:xfrm>
        </p:grpSpPr>
        <p:sp>
          <p:nvSpPr>
            <p:cNvPr name="Freeform 9" id="9"/>
            <p:cNvSpPr/>
            <p:nvPr/>
          </p:nvSpPr>
          <p:spPr>
            <a:xfrm flipH="false" flipV="false" rot="0">
              <a:off x="0" y="0"/>
              <a:ext cx="1737573" cy="2986269"/>
            </a:xfrm>
            <a:custGeom>
              <a:avLst/>
              <a:gdLst/>
              <a:ahLst/>
              <a:cxnLst/>
              <a:rect r="r" b="b" t="t" l="l"/>
              <a:pathLst>
                <a:path h="2986269" w="1737573">
                  <a:moveTo>
                    <a:pt x="19431" y="0"/>
                  </a:moveTo>
                  <a:lnTo>
                    <a:pt x="1718142" y="0"/>
                  </a:lnTo>
                  <a:cubicBezTo>
                    <a:pt x="1723296" y="0"/>
                    <a:pt x="1728238" y="2047"/>
                    <a:pt x="1731882" y="5691"/>
                  </a:cubicBezTo>
                  <a:cubicBezTo>
                    <a:pt x="1735526" y="9335"/>
                    <a:pt x="1737573" y="14277"/>
                    <a:pt x="1737573" y="19431"/>
                  </a:cubicBezTo>
                  <a:lnTo>
                    <a:pt x="1737573" y="2966839"/>
                  </a:lnTo>
                  <a:cubicBezTo>
                    <a:pt x="1737573" y="2977570"/>
                    <a:pt x="1728874" y="2986269"/>
                    <a:pt x="1718142" y="2986269"/>
                  </a:cubicBezTo>
                  <a:lnTo>
                    <a:pt x="19431" y="2986269"/>
                  </a:lnTo>
                  <a:cubicBezTo>
                    <a:pt x="14277" y="2986269"/>
                    <a:pt x="9335" y="2984222"/>
                    <a:pt x="5691" y="2980578"/>
                  </a:cubicBezTo>
                  <a:cubicBezTo>
                    <a:pt x="2047" y="2976934"/>
                    <a:pt x="0" y="2971992"/>
                    <a:pt x="0" y="2966839"/>
                  </a:cubicBezTo>
                  <a:lnTo>
                    <a:pt x="0" y="19431"/>
                  </a:lnTo>
                  <a:cubicBezTo>
                    <a:pt x="0" y="14277"/>
                    <a:pt x="2047" y="9335"/>
                    <a:pt x="5691" y="5691"/>
                  </a:cubicBezTo>
                  <a:cubicBezTo>
                    <a:pt x="9335" y="2047"/>
                    <a:pt x="14277" y="0"/>
                    <a:pt x="19431" y="0"/>
                  </a:cubicBezTo>
                  <a:close/>
                </a:path>
              </a:pathLst>
            </a:custGeom>
            <a:solidFill>
              <a:srgbClr val="02B676">
                <a:alpha val="69804"/>
              </a:srgbClr>
            </a:solidFill>
          </p:spPr>
        </p:sp>
        <p:sp>
          <p:nvSpPr>
            <p:cNvPr name="TextBox 10" id="10"/>
            <p:cNvSpPr txBox="true"/>
            <p:nvPr/>
          </p:nvSpPr>
          <p:spPr>
            <a:xfrm>
              <a:off x="0" y="-38100"/>
              <a:ext cx="1737573" cy="3024369"/>
            </a:xfrm>
            <a:prstGeom prst="rect">
              <a:avLst/>
            </a:prstGeom>
          </p:spPr>
          <p:txBody>
            <a:bodyPr anchor="ctr" rtlCol="false" tIns="80497" lIns="80497" bIns="80497" rIns="80497"/>
            <a:lstStyle/>
            <a:p>
              <a:pPr algn="ctr">
                <a:lnSpc>
                  <a:spcPts val="3599"/>
                </a:lnSpc>
              </a:pPr>
            </a:p>
          </p:txBody>
        </p:sp>
      </p:grpSp>
      <p:grpSp>
        <p:nvGrpSpPr>
          <p:cNvPr name="Group 11" id="11"/>
          <p:cNvGrpSpPr/>
          <p:nvPr/>
        </p:nvGrpSpPr>
        <p:grpSpPr>
          <a:xfrm rot="0">
            <a:off x="8674550" y="2344966"/>
            <a:ext cx="938900" cy="938900"/>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BE6"/>
            </a:solidFill>
            <a:ln w="38100" cap="sq">
              <a:solidFill>
                <a:srgbClr val="292828"/>
              </a:solidFill>
              <a:prstDash val="solid"/>
              <a:miter/>
            </a:ln>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5399"/>
                </a:lnSpc>
              </a:pPr>
            </a:p>
          </p:txBody>
        </p:sp>
      </p:grpSp>
      <p:grpSp>
        <p:nvGrpSpPr>
          <p:cNvPr name="Group 14" id="14"/>
          <p:cNvGrpSpPr/>
          <p:nvPr/>
        </p:nvGrpSpPr>
        <p:grpSpPr>
          <a:xfrm rot="0">
            <a:off x="3947101" y="2344966"/>
            <a:ext cx="938900" cy="938900"/>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BE6"/>
            </a:solidFill>
            <a:ln w="38100" cap="sq">
              <a:solidFill>
                <a:srgbClr val="292828"/>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5399"/>
                </a:lnSpc>
              </a:pPr>
            </a:p>
          </p:txBody>
        </p:sp>
      </p:grpSp>
      <p:grpSp>
        <p:nvGrpSpPr>
          <p:cNvPr name="Group 17" id="17"/>
          <p:cNvGrpSpPr/>
          <p:nvPr/>
        </p:nvGrpSpPr>
        <p:grpSpPr>
          <a:xfrm rot="0">
            <a:off x="13401998" y="2344966"/>
            <a:ext cx="938900" cy="938900"/>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DEBE6"/>
            </a:solidFill>
            <a:ln w="38100" cap="sq">
              <a:solidFill>
                <a:srgbClr val="292828"/>
              </a:solidFill>
              <a:prstDash val="solid"/>
              <a:miter/>
            </a:ln>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5399"/>
                </a:lnSpc>
              </a:pPr>
            </a:p>
          </p:txBody>
        </p:sp>
      </p:grpSp>
      <p:sp>
        <p:nvSpPr>
          <p:cNvPr name="TextBox 20" id="20"/>
          <p:cNvSpPr txBox="true"/>
          <p:nvPr/>
        </p:nvSpPr>
        <p:spPr>
          <a:xfrm rot="0">
            <a:off x="1028700" y="1019175"/>
            <a:ext cx="16230600"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9. SECTIONS DU BULLETIN « PENSION LIVRÉE » :</a:t>
            </a:r>
          </a:p>
        </p:txBody>
      </p:sp>
      <p:sp>
        <p:nvSpPr>
          <p:cNvPr name="TextBox 21" id="21"/>
          <p:cNvSpPr txBox="true"/>
          <p:nvPr/>
        </p:nvSpPr>
        <p:spPr>
          <a:xfrm rot="0">
            <a:off x="2647870" y="3363969"/>
            <a:ext cx="3313332" cy="405672"/>
          </a:xfrm>
          <a:prstGeom prst="rect">
            <a:avLst/>
          </a:prstGeom>
        </p:spPr>
        <p:txBody>
          <a:bodyPr anchor="t" rtlCol="false" tIns="0" lIns="0" bIns="0" rIns="0">
            <a:spAutoFit/>
          </a:bodyPr>
          <a:lstStyle/>
          <a:p>
            <a:pPr algn="ctr">
              <a:lnSpc>
                <a:spcPts val="2661"/>
              </a:lnSpc>
            </a:pPr>
            <a:r>
              <a:rPr lang="en-US" sz="2661" spc="130">
                <a:solidFill>
                  <a:srgbClr val="290606"/>
                </a:solidFill>
                <a:latin typeface="Cheddar"/>
                <a:ea typeface="Cheddar"/>
                <a:cs typeface="Cheddar"/>
                <a:sym typeface="Cheddar"/>
              </a:rPr>
              <a:t>LES OPÉRATIONS DU JOUR</a:t>
            </a:r>
          </a:p>
        </p:txBody>
      </p:sp>
      <p:sp>
        <p:nvSpPr>
          <p:cNvPr name="TextBox 22" id="22"/>
          <p:cNvSpPr txBox="true"/>
          <p:nvPr/>
        </p:nvSpPr>
        <p:spPr>
          <a:xfrm rot="0">
            <a:off x="2423838" y="4738339"/>
            <a:ext cx="3537364" cy="3099435"/>
          </a:xfrm>
          <a:prstGeom prst="rect">
            <a:avLst/>
          </a:prstGeom>
        </p:spPr>
        <p:txBody>
          <a:bodyPr anchor="t" rtlCol="false" tIns="0" lIns="0" bIns="0" rIns="0">
            <a:spAutoFit/>
          </a:bodyPr>
          <a:lstStyle/>
          <a:p>
            <a:pPr algn="ctr" marL="518163" indent="-259082" lvl="1">
              <a:lnSpc>
                <a:spcPts val="2400"/>
              </a:lnSpc>
              <a:buFont typeface="Arial"/>
              <a:buChar char="•"/>
            </a:pPr>
            <a:r>
              <a:rPr lang="en-US" b="true" sz="2400" spc="117">
                <a:solidFill>
                  <a:srgbClr val="290606"/>
                </a:solidFill>
                <a:latin typeface="Telegraf Bold"/>
                <a:ea typeface="Telegraf Bold"/>
                <a:cs typeface="Telegraf Bold"/>
                <a:sym typeface="Telegraf Bold"/>
              </a:rPr>
              <a:t>Montant global : </a:t>
            </a:r>
            <a:r>
              <a:rPr lang="en-US" sz="2400" spc="117">
                <a:solidFill>
                  <a:srgbClr val="290606"/>
                </a:solidFill>
                <a:latin typeface="Telegraf"/>
                <a:ea typeface="Telegraf"/>
                <a:cs typeface="Telegraf"/>
                <a:sym typeface="Telegraf"/>
              </a:rPr>
              <a:t>la somme totale</a:t>
            </a:r>
            <a:r>
              <a:rPr lang="en-US" b="true" sz="2400" spc="117">
                <a:solidFill>
                  <a:srgbClr val="290606"/>
                </a:solidFill>
                <a:latin typeface="Telegraf Bold"/>
                <a:ea typeface="Telegraf Bold"/>
                <a:cs typeface="Telegraf Bold"/>
                <a:sym typeface="Telegraf Bold"/>
              </a:rPr>
              <a:t> </a:t>
            </a:r>
          </a:p>
          <a:p>
            <a:pPr algn="ctr" marL="518163" indent="-259082" lvl="1">
              <a:lnSpc>
                <a:spcPts val="2400"/>
              </a:lnSpc>
              <a:buFont typeface="Arial"/>
              <a:buChar char="•"/>
            </a:pPr>
            <a:r>
              <a:rPr lang="en-US" b="true" sz="2400" spc="117">
                <a:solidFill>
                  <a:srgbClr val="290606"/>
                </a:solidFill>
                <a:latin typeface="Telegraf Bold"/>
                <a:ea typeface="Telegraf Bold"/>
                <a:cs typeface="Telegraf Bold"/>
                <a:sym typeface="Telegraf Bold"/>
              </a:rPr>
              <a:t>Objectif : </a:t>
            </a:r>
            <a:r>
              <a:rPr lang="en-US" sz="2400" spc="117">
                <a:solidFill>
                  <a:srgbClr val="290606"/>
                </a:solidFill>
                <a:latin typeface="Telegraf"/>
                <a:ea typeface="Telegraf"/>
                <a:cs typeface="Telegraf"/>
                <a:sym typeface="Telegraf"/>
              </a:rPr>
              <a:t>donne une vision rapide du volume de liquidités mobilisées/utilisées au cours de la journée.</a:t>
            </a:r>
          </a:p>
          <a:p>
            <a:pPr algn="ctr">
              <a:lnSpc>
                <a:spcPts val="2400"/>
              </a:lnSpc>
            </a:pPr>
          </a:p>
        </p:txBody>
      </p:sp>
      <p:sp>
        <p:nvSpPr>
          <p:cNvPr name="TextBox 23" id="23"/>
          <p:cNvSpPr txBox="true"/>
          <p:nvPr/>
        </p:nvSpPr>
        <p:spPr>
          <a:xfrm rot="0">
            <a:off x="7355005" y="4781978"/>
            <a:ext cx="3537364" cy="3642995"/>
          </a:xfrm>
          <a:prstGeom prst="rect">
            <a:avLst/>
          </a:prstGeom>
        </p:spPr>
        <p:txBody>
          <a:bodyPr anchor="t" rtlCol="false" tIns="0" lIns="0" bIns="0" rIns="0">
            <a:spAutoFit/>
          </a:bodyPr>
          <a:lstStyle/>
          <a:p>
            <a:pPr algn="ctr" marL="442594" indent="-221297" lvl="1">
              <a:lnSpc>
                <a:spcPts val="2049"/>
              </a:lnSpc>
              <a:buFont typeface="Arial"/>
              <a:buChar char="•"/>
            </a:pPr>
            <a:r>
              <a:rPr lang="en-US" b="true" sz="2049" spc="100">
                <a:solidFill>
                  <a:srgbClr val="290606"/>
                </a:solidFill>
                <a:latin typeface="Telegraf Bold"/>
                <a:ea typeface="Telegraf Bold"/>
                <a:cs typeface="Telegraf Bold"/>
                <a:sym typeface="Telegraf Bold"/>
              </a:rPr>
              <a:t>ISIN (identifiant du titre),</a:t>
            </a:r>
          </a:p>
          <a:p>
            <a:pPr algn="ctr" marL="442594" indent="-221297" lvl="1">
              <a:lnSpc>
                <a:spcPts val="2049"/>
              </a:lnSpc>
              <a:buFont typeface="Arial"/>
              <a:buChar char="•"/>
            </a:pPr>
            <a:r>
              <a:rPr lang="en-US" b="true" sz="2049" spc="100">
                <a:solidFill>
                  <a:srgbClr val="290606"/>
                </a:solidFill>
                <a:latin typeface="Telegraf Bold"/>
                <a:ea typeface="Telegraf Bold"/>
                <a:cs typeface="Telegraf Bold"/>
                <a:sym typeface="Telegraf Bold"/>
              </a:rPr>
              <a:t>Libellé (type et maturité),</a:t>
            </a:r>
          </a:p>
          <a:p>
            <a:pPr algn="ctr" marL="442594" indent="-221297" lvl="1">
              <a:lnSpc>
                <a:spcPts val="2049"/>
              </a:lnSpc>
              <a:buFont typeface="Arial"/>
              <a:buChar char="•"/>
            </a:pPr>
            <a:r>
              <a:rPr lang="en-US" b="true" sz="2049" spc="100">
                <a:solidFill>
                  <a:srgbClr val="290606"/>
                </a:solidFill>
                <a:latin typeface="Telegraf Bold"/>
                <a:ea typeface="Telegraf Bold"/>
                <a:cs typeface="Telegraf Bold"/>
                <a:sym typeface="Telegraf Bold"/>
              </a:rPr>
              <a:t>Nombre de titres,</a:t>
            </a:r>
          </a:p>
          <a:p>
            <a:pPr algn="ctr" marL="442594" indent="-221297" lvl="1">
              <a:lnSpc>
                <a:spcPts val="2049"/>
              </a:lnSpc>
              <a:buFont typeface="Arial"/>
              <a:buChar char="•"/>
            </a:pPr>
            <a:r>
              <a:rPr lang="en-US" b="true" sz="2049" spc="100">
                <a:solidFill>
                  <a:srgbClr val="290606"/>
                </a:solidFill>
                <a:latin typeface="Telegraf Bold"/>
                <a:ea typeface="Telegraf Bold"/>
                <a:cs typeface="Telegraf Bold"/>
                <a:sym typeface="Telegraf Bold"/>
              </a:rPr>
              <a:t>Montant en MDT,</a:t>
            </a:r>
          </a:p>
          <a:p>
            <a:pPr algn="ctr" marL="442594" indent="-221297" lvl="1">
              <a:lnSpc>
                <a:spcPts val="2049"/>
              </a:lnSpc>
              <a:buFont typeface="Arial"/>
              <a:buChar char="•"/>
            </a:pPr>
            <a:r>
              <a:rPr lang="en-US" b="true" sz="2049" spc="100">
                <a:solidFill>
                  <a:srgbClr val="290606"/>
                </a:solidFill>
                <a:latin typeface="Telegraf Bold"/>
                <a:ea typeface="Telegraf Bold"/>
                <a:cs typeface="Telegraf Bold"/>
                <a:sym typeface="Telegraf Bold"/>
              </a:rPr>
              <a:t>Échéance (jours),</a:t>
            </a:r>
          </a:p>
          <a:p>
            <a:pPr algn="ctr" marL="442594" indent="-221297" lvl="1">
              <a:lnSpc>
                <a:spcPts val="2049"/>
              </a:lnSpc>
              <a:buFont typeface="Arial"/>
              <a:buChar char="•"/>
            </a:pPr>
            <a:r>
              <a:rPr lang="en-US" b="true" sz="2049" spc="100">
                <a:solidFill>
                  <a:srgbClr val="290606"/>
                </a:solidFill>
                <a:latin typeface="Telegraf Bold"/>
                <a:ea typeface="Telegraf Bold"/>
                <a:cs typeface="Telegraf Bold"/>
                <a:sym typeface="Telegraf Bold"/>
              </a:rPr>
              <a:t>Taux appliqué (intérêt).</a:t>
            </a:r>
          </a:p>
          <a:p>
            <a:pPr algn="ctr">
              <a:lnSpc>
                <a:spcPts val="2049"/>
              </a:lnSpc>
            </a:pPr>
          </a:p>
          <a:p>
            <a:pPr algn="ctr">
              <a:lnSpc>
                <a:spcPts val="2049"/>
              </a:lnSpc>
            </a:pPr>
            <a:r>
              <a:rPr lang="en-US" b="true" sz="2049" spc="100">
                <a:solidFill>
                  <a:srgbClr val="290606"/>
                </a:solidFill>
                <a:latin typeface="Telegraf Bold"/>
                <a:ea typeface="Telegraf Bold"/>
                <a:cs typeface="Telegraf Bold"/>
                <a:sym typeface="Telegraf Bold"/>
              </a:rPr>
              <a:t>Utilité :</a:t>
            </a:r>
            <a:r>
              <a:rPr lang="en-US" sz="2049" spc="100">
                <a:solidFill>
                  <a:srgbClr val="290606"/>
                </a:solidFill>
                <a:latin typeface="Telegraf"/>
                <a:ea typeface="Telegraf"/>
                <a:cs typeface="Telegraf"/>
                <a:sym typeface="Telegraf"/>
              </a:rPr>
              <a:t> analyse des titres donnés en garantie, volumes, durée, et coût de la liquidité.</a:t>
            </a:r>
          </a:p>
        </p:txBody>
      </p:sp>
      <p:sp>
        <p:nvSpPr>
          <p:cNvPr name="TextBox 24" id="24"/>
          <p:cNvSpPr txBox="true"/>
          <p:nvPr/>
        </p:nvSpPr>
        <p:spPr>
          <a:xfrm rot="0">
            <a:off x="12038972" y="4738339"/>
            <a:ext cx="3664952" cy="3013565"/>
          </a:xfrm>
          <a:prstGeom prst="rect">
            <a:avLst/>
          </a:prstGeom>
        </p:spPr>
        <p:txBody>
          <a:bodyPr anchor="t" rtlCol="false" tIns="0" lIns="0" bIns="0" rIns="0">
            <a:spAutoFit/>
          </a:bodyPr>
          <a:lstStyle/>
          <a:p>
            <a:pPr algn="ctr">
              <a:lnSpc>
                <a:spcPts val="2019"/>
              </a:lnSpc>
            </a:pPr>
            <a:r>
              <a:rPr lang="en-US" b="true" sz="2019" spc="98">
                <a:solidFill>
                  <a:srgbClr val="290606"/>
                </a:solidFill>
                <a:latin typeface="Telegraf Bold"/>
                <a:ea typeface="Telegraf Bold"/>
                <a:cs typeface="Telegraf Bold"/>
                <a:sym typeface="Telegraf Bold"/>
              </a:rPr>
              <a:t>Ce tableau détaille les réachats effectués (contrats arrivés à terme), avec :</a:t>
            </a:r>
          </a:p>
          <a:p>
            <a:pPr algn="ctr">
              <a:lnSpc>
                <a:spcPts val="2019"/>
              </a:lnSpc>
            </a:pPr>
            <a:r>
              <a:rPr lang="en-US" b="true" sz="2019" spc="98">
                <a:solidFill>
                  <a:srgbClr val="290606"/>
                </a:solidFill>
                <a:latin typeface="Telegraf Bold"/>
                <a:ea typeface="Telegraf Bold"/>
                <a:cs typeface="Telegraf Bold"/>
                <a:sym typeface="Telegraf Bold"/>
              </a:rPr>
              <a:t>même type d’information que la mise en pension (ISIN, montant…).</a:t>
            </a:r>
          </a:p>
          <a:p>
            <a:pPr algn="ctr">
              <a:lnSpc>
                <a:spcPts val="2019"/>
              </a:lnSpc>
            </a:pPr>
          </a:p>
          <a:p>
            <a:pPr algn="ctr">
              <a:lnSpc>
                <a:spcPts val="2019"/>
              </a:lnSpc>
            </a:pPr>
            <a:r>
              <a:rPr lang="en-US" b="true" sz="2019" spc="98">
                <a:solidFill>
                  <a:srgbClr val="290606"/>
                </a:solidFill>
                <a:latin typeface="Telegraf Bold"/>
                <a:ea typeface="Telegraf Bold"/>
                <a:cs typeface="Telegraf Bold"/>
                <a:sym typeface="Telegraf Bold"/>
              </a:rPr>
              <a:t> </a:t>
            </a:r>
            <a:r>
              <a:rPr lang="en-US" b="true" sz="2019" spc="98">
                <a:solidFill>
                  <a:srgbClr val="290606"/>
                </a:solidFill>
                <a:latin typeface="Telegraf Bold"/>
                <a:ea typeface="Telegraf Bold"/>
                <a:cs typeface="Telegraf Bold"/>
                <a:sym typeface="Telegraf Bold"/>
              </a:rPr>
              <a:t>Utilité : </a:t>
            </a:r>
            <a:r>
              <a:rPr lang="en-US" sz="2019" spc="98">
                <a:solidFill>
                  <a:srgbClr val="290606"/>
                </a:solidFill>
                <a:latin typeface="Telegraf"/>
                <a:ea typeface="Telegraf"/>
                <a:cs typeface="Telegraf"/>
                <a:sym typeface="Telegraf"/>
              </a:rPr>
              <a:t>permet d’évaluer les sorties de liquidité liées aux rachats de titres.</a:t>
            </a:r>
          </a:p>
          <a:p>
            <a:pPr algn="ctr">
              <a:lnSpc>
                <a:spcPts val="2019"/>
              </a:lnSpc>
            </a:pPr>
          </a:p>
        </p:txBody>
      </p:sp>
      <p:sp>
        <p:nvSpPr>
          <p:cNvPr name="TextBox 25" id="25"/>
          <p:cNvSpPr txBox="true"/>
          <p:nvPr/>
        </p:nvSpPr>
        <p:spPr>
          <a:xfrm rot="0">
            <a:off x="7395631" y="3413675"/>
            <a:ext cx="3496738" cy="702407"/>
          </a:xfrm>
          <a:prstGeom prst="rect">
            <a:avLst/>
          </a:prstGeom>
        </p:spPr>
        <p:txBody>
          <a:bodyPr anchor="t" rtlCol="false" tIns="0" lIns="0" bIns="0" rIns="0">
            <a:spAutoFit/>
          </a:bodyPr>
          <a:lstStyle/>
          <a:p>
            <a:pPr algn="ctr">
              <a:lnSpc>
                <a:spcPts val="2479"/>
              </a:lnSpc>
            </a:pPr>
            <a:r>
              <a:rPr lang="en-US" sz="2479" spc="121">
                <a:solidFill>
                  <a:srgbClr val="290606"/>
                </a:solidFill>
                <a:latin typeface="Cheddar"/>
                <a:ea typeface="Cheddar"/>
                <a:cs typeface="Cheddar"/>
                <a:sym typeface="Cheddar"/>
              </a:rPr>
              <a:t>LES OPÉRATIONS DE MISE EN PENSION DU JOUR</a:t>
            </a:r>
          </a:p>
        </p:txBody>
      </p:sp>
      <p:sp>
        <p:nvSpPr>
          <p:cNvPr name="TextBox 26" id="26"/>
          <p:cNvSpPr txBox="true"/>
          <p:nvPr/>
        </p:nvSpPr>
        <p:spPr>
          <a:xfrm rot="0">
            <a:off x="11879275" y="3359443"/>
            <a:ext cx="4070109" cy="630055"/>
          </a:xfrm>
          <a:prstGeom prst="rect">
            <a:avLst/>
          </a:prstGeom>
        </p:spPr>
        <p:txBody>
          <a:bodyPr anchor="t" rtlCol="false" tIns="0" lIns="0" bIns="0" rIns="0">
            <a:spAutoFit/>
          </a:bodyPr>
          <a:lstStyle/>
          <a:p>
            <a:pPr algn="ctr">
              <a:lnSpc>
                <a:spcPts val="2255"/>
              </a:lnSpc>
            </a:pPr>
            <a:r>
              <a:rPr lang="en-US" sz="2255" spc="110">
                <a:solidFill>
                  <a:srgbClr val="290606"/>
                </a:solidFill>
                <a:latin typeface="Cheddar"/>
                <a:ea typeface="Cheddar"/>
                <a:cs typeface="Cheddar"/>
                <a:sym typeface="Cheddar"/>
              </a:rPr>
              <a:t>LES OPÉRATIONS DE RÉTROCESSION DES PENSIONS LIVRÉES</a:t>
            </a:r>
          </a:p>
        </p:txBody>
      </p:sp>
      <p:sp>
        <p:nvSpPr>
          <p:cNvPr name="Freeform 27" id="27"/>
          <p:cNvSpPr/>
          <p:nvPr/>
        </p:nvSpPr>
        <p:spPr>
          <a:xfrm flipH="false" flipV="false" rot="0">
            <a:off x="14785728" y="-6982"/>
            <a:ext cx="3250652" cy="1300261"/>
          </a:xfrm>
          <a:custGeom>
            <a:avLst/>
            <a:gdLst/>
            <a:ahLst/>
            <a:cxnLst/>
            <a:rect r="r" b="b" t="t" l="l"/>
            <a:pathLst>
              <a:path h="1300261" w="3250652">
                <a:moveTo>
                  <a:pt x="0" y="0"/>
                </a:moveTo>
                <a:lnTo>
                  <a:pt x="3250652" y="0"/>
                </a:lnTo>
                <a:lnTo>
                  <a:pt x="3250652" y="1300260"/>
                </a:lnTo>
                <a:lnTo>
                  <a:pt x="0" y="1300260"/>
                </a:lnTo>
                <a:lnTo>
                  <a:pt x="0" y="0"/>
                </a:lnTo>
                <a:close/>
              </a:path>
            </a:pathLst>
          </a:custGeom>
          <a:blipFill>
            <a:blip r:embed="rId2"/>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AutoShape 2" id="2"/>
          <p:cNvSpPr/>
          <p:nvPr/>
        </p:nvSpPr>
        <p:spPr>
          <a:xfrm>
            <a:off x="-886757" y="3754522"/>
            <a:ext cx="20061513" cy="0"/>
          </a:xfrm>
          <a:prstGeom prst="line">
            <a:avLst/>
          </a:prstGeom>
          <a:ln cap="flat" w="28575">
            <a:solidFill>
              <a:srgbClr val="02B676"/>
            </a:solidFill>
            <a:prstDash val="solid"/>
            <a:headEnd type="none" len="sm" w="sm"/>
            <a:tailEnd type="none" len="sm" w="sm"/>
          </a:ln>
        </p:spPr>
      </p:sp>
      <p:sp>
        <p:nvSpPr>
          <p:cNvPr name="TextBox 3" id="3"/>
          <p:cNvSpPr txBox="true"/>
          <p:nvPr/>
        </p:nvSpPr>
        <p:spPr>
          <a:xfrm rot="0">
            <a:off x="1028700" y="1019175"/>
            <a:ext cx="11281713"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10. POURQUOI C’EST IMPORTANT :</a:t>
            </a:r>
          </a:p>
        </p:txBody>
      </p:sp>
      <p:sp>
        <p:nvSpPr>
          <p:cNvPr name="TextBox 4" id="4"/>
          <p:cNvSpPr txBox="true"/>
          <p:nvPr/>
        </p:nvSpPr>
        <p:spPr>
          <a:xfrm rot="0">
            <a:off x="2724596" y="4558664"/>
            <a:ext cx="9198817" cy="3528061"/>
          </a:xfrm>
          <a:prstGeom prst="rect">
            <a:avLst/>
          </a:prstGeom>
        </p:spPr>
        <p:txBody>
          <a:bodyPr anchor="t" rtlCol="false" tIns="0" lIns="0" bIns="0" rIns="0">
            <a:spAutoFit/>
          </a:bodyPr>
          <a:lstStyle/>
          <a:p>
            <a:pPr algn="l" marL="431797" indent="-215899" lvl="1">
              <a:lnSpc>
                <a:spcPts val="3119"/>
              </a:lnSpc>
              <a:buFont typeface="Arial"/>
              <a:buChar char="•"/>
            </a:pPr>
            <a:r>
              <a:rPr lang="en-US" b="true" sz="1999">
                <a:solidFill>
                  <a:srgbClr val="290606"/>
                </a:solidFill>
                <a:latin typeface="Telegraf Bold"/>
                <a:ea typeface="Telegraf Bold"/>
                <a:cs typeface="Telegraf Bold"/>
                <a:sym typeface="Telegraf Bold"/>
              </a:rPr>
              <a:t>Gestion de liquidité</a:t>
            </a:r>
            <a:r>
              <a:rPr lang="en-US" sz="1999">
                <a:solidFill>
                  <a:srgbClr val="290606"/>
                </a:solidFill>
                <a:latin typeface="Telegraf"/>
                <a:ea typeface="Telegraf"/>
                <a:cs typeface="Telegraf"/>
                <a:sym typeface="Telegraf"/>
              </a:rPr>
              <a:t> : la pension livrée est un instrument clé pour ajuster les besoins de trésorerie des institutions.</a:t>
            </a:r>
          </a:p>
          <a:p>
            <a:pPr algn="l" marL="431797" indent="-215899" lvl="1">
              <a:lnSpc>
                <a:spcPts val="3119"/>
              </a:lnSpc>
              <a:buFont typeface="Arial"/>
              <a:buChar char="•"/>
            </a:pPr>
            <a:r>
              <a:rPr lang="en-US" b="true" sz="1999">
                <a:solidFill>
                  <a:srgbClr val="290606"/>
                </a:solidFill>
                <a:latin typeface="Telegraf Bold"/>
                <a:ea typeface="Telegraf Bold"/>
                <a:cs typeface="Telegraf Bold"/>
                <a:sym typeface="Telegraf Bold"/>
              </a:rPr>
              <a:t>Indicateur de confiance sur le marché :</a:t>
            </a:r>
            <a:r>
              <a:rPr lang="en-US" sz="1999">
                <a:solidFill>
                  <a:srgbClr val="290606"/>
                </a:solidFill>
                <a:latin typeface="Telegraf"/>
                <a:ea typeface="Telegraf"/>
                <a:cs typeface="Telegraf"/>
                <a:sym typeface="Telegraf"/>
              </a:rPr>
              <a:t> les volumes et taux renseignent sur l’appétit pour le financement à court terme sécurisé </a:t>
            </a:r>
          </a:p>
          <a:p>
            <a:pPr algn="l" marL="431797" indent="-215899" lvl="1">
              <a:lnSpc>
                <a:spcPts val="3119"/>
              </a:lnSpc>
              <a:buFont typeface="Arial"/>
              <a:buChar char="•"/>
            </a:pPr>
            <a:r>
              <a:rPr lang="en-US" b="true" sz="1999">
                <a:solidFill>
                  <a:srgbClr val="290606"/>
                </a:solidFill>
                <a:latin typeface="Telegraf Bold"/>
                <a:ea typeface="Telegraf Bold"/>
                <a:cs typeface="Telegraf Bold"/>
                <a:sym typeface="Telegraf Bold"/>
              </a:rPr>
              <a:t>Rôle dans la politique monétaire :</a:t>
            </a:r>
            <a:r>
              <a:rPr lang="en-US" sz="1999">
                <a:solidFill>
                  <a:srgbClr val="290606"/>
                </a:solidFill>
                <a:latin typeface="Telegraf"/>
                <a:ea typeface="Telegraf"/>
                <a:cs typeface="Telegraf"/>
                <a:sym typeface="Telegraf"/>
              </a:rPr>
              <a:t> les banques centrales l’utilisent pour influer sur la masse monétaire (par repo / reverse repo) </a:t>
            </a:r>
          </a:p>
          <a:p>
            <a:pPr algn="l" marL="431797" indent="-215899" lvl="1">
              <a:lnSpc>
                <a:spcPts val="3119"/>
              </a:lnSpc>
              <a:buFont typeface="Arial"/>
              <a:buChar char="•"/>
            </a:pPr>
            <a:r>
              <a:rPr lang="en-US" b="true" sz="1999">
                <a:solidFill>
                  <a:srgbClr val="290606"/>
                </a:solidFill>
                <a:latin typeface="Telegraf Bold"/>
                <a:ea typeface="Telegraf Bold"/>
                <a:cs typeface="Telegraf Bold"/>
                <a:sym typeface="Telegraf Bold"/>
              </a:rPr>
              <a:t>Transparence :</a:t>
            </a:r>
            <a:r>
              <a:rPr lang="en-US" sz="1999">
                <a:solidFill>
                  <a:srgbClr val="290606"/>
                </a:solidFill>
                <a:latin typeface="Telegraf"/>
                <a:ea typeface="Telegraf"/>
                <a:cs typeface="Telegraf"/>
                <a:sym typeface="Telegraf"/>
              </a:rPr>
              <a:t> Tunisie Clearing, via la compensation, garantit le règlement-livraison et la sécurité règlementaire</a:t>
            </a:r>
          </a:p>
          <a:p>
            <a:pPr algn="l">
              <a:lnSpc>
                <a:spcPts val="3119"/>
              </a:lnSpc>
            </a:pPr>
          </a:p>
        </p:txBody>
      </p:sp>
      <p:sp>
        <p:nvSpPr>
          <p:cNvPr name="Freeform 5" id="5"/>
          <p:cNvSpPr/>
          <p:nvPr/>
        </p:nvSpPr>
        <p:spPr>
          <a:xfrm flipH="false" flipV="false" rot="0">
            <a:off x="-19802" y="0"/>
            <a:ext cx="3250652" cy="1300261"/>
          </a:xfrm>
          <a:custGeom>
            <a:avLst/>
            <a:gdLst/>
            <a:ahLst/>
            <a:cxnLst/>
            <a:rect r="r" b="b" t="t" l="l"/>
            <a:pathLst>
              <a:path h="1300261" w="3250652">
                <a:moveTo>
                  <a:pt x="0" y="0"/>
                </a:moveTo>
                <a:lnTo>
                  <a:pt x="3250652" y="0"/>
                </a:lnTo>
                <a:lnTo>
                  <a:pt x="3250652" y="1300261"/>
                </a:lnTo>
                <a:lnTo>
                  <a:pt x="0" y="1300261"/>
                </a:lnTo>
                <a:lnTo>
                  <a:pt x="0" y="0"/>
                </a:lnTo>
                <a:close/>
              </a:path>
            </a:pathLst>
          </a:custGeom>
          <a:blipFill>
            <a:blip r:embed="rId2"/>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grpSp>
        <p:nvGrpSpPr>
          <p:cNvPr name="Group 2" id="2"/>
          <p:cNvGrpSpPr/>
          <p:nvPr/>
        </p:nvGrpSpPr>
        <p:grpSpPr>
          <a:xfrm rot="0">
            <a:off x="-388625" y="5221973"/>
            <a:ext cx="19065250" cy="4036327"/>
            <a:chOff x="0" y="0"/>
            <a:chExt cx="5021300" cy="1063065"/>
          </a:xfrm>
        </p:grpSpPr>
        <p:sp>
          <p:nvSpPr>
            <p:cNvPr name="Freeform 3" id="3"/>
            <p:cNvSpPr/>
            <p:nvPr/>
          </p:nvSpPr>
          <p:spPr>
            <a:xfrm flipH="false" flipV="false" rot="0">
              <a:off x="0" y="0"/>
              <a:ext cx="5021300" cy="1063065"/>
            </a:xfrm>
            <a:custGeom>
              <a:avLst/>
              <a:gdLst/>
              <a:ahLst/>
              <a:cxnLst/>
              <a:rect r="r" b="b" t="t" l="l"/>
              <a:pathLst>
                <a:path h="1063065" w="5021300">
                  <a:moveTo>
                    <a:pt x="8121" y="0"/>
                  </a:moveTo>
                  <a:lnTo>
                    <a:pt x="5013179" y="0"/>
                  </a:lnTo>
                  <a:cubicBezTo>
                    <a:pt x="5015333" y="0"/>
                    <a:pt x="5017399" y="856"/>
                    <a:pt x="5018922" y="2379"/>
                  </a:cubicBezTo>
                  <a:cubicBezTo>
                    <a:pt x="5020445" y="3902"/>
                    <a:pt x="5021300" y="5968"/>
                    <a:pt x="5021300" y="8121"/>
                  </a:cubicBezTo>
                  <a:lnTo>
                    <a:pt x="5021300" y="1054944"/>
                  </a:lnTo>
                  <a:cubicBezTo>
                    <a:pt x="5021300" y="1057098"/>
                    <a:pt x="5020445" y="1059164"/>
                    <a:pt x="5018922" y="1060687"/>
                  </a:cubicBezTo>
                  <a:cubicBezTo>
                    <a:pt x="5017399" y="1062210"/>
                    <a:pt x="5015333" y="1063065"/>
                    <a:pt x="5013179" y="1063065"/>
                  </a:cubicBezTo>
                  <a:lnTo>
                    <a:pt x="8121" y="1063065"/>
                  </a:lnTo>
                  <a:cubicBezTo>
                    <a:pt x="5968" y="1063065"/>
                    <a:pt x="3902" y="1062210"/>
                    <a:pt x="2379" y="1060687"/>
                  </a:cubicBezTo>
                  <a:cubicBezTo>
                    <a:pt x="856" y="1059164"/>
                    <a:pt x="0" y="1057098"/>
                    <a:pt x="0" y="1054944"/>
                  </a:cubicBezTo>
                  <a:lnTo>
                    <a:pt x="0" y="8121"/>
                  </a:lnTo>
                  <a:cubicBezTo>
                    <a:pt x="0" y="5968"/>
                    <a:pt x="856" y="3902"/>
                    <a:pt x="2379" y="2379"/>
                  </a:cubicBezTo>
                  <a:cubicBezTo>
                    <a:pt x="3902" y="856"/>
                    <a:pt x="5968" y="0"/>
                    <a:pt x="8121" y="0"/>
                  </a:cubicBezTo>
                  <a:close/>
                </a:path>
              </a:pathLst>
            </a:custGeom>
            <a:solidFill>
              <a:srgbClr val="02B676">
                <a:alpha val="14902"/>
              </a:srgbClr>
            </a:solidFill>
          </p:spPr>
        </p:sp>
        <p:sp>
          <p:nvSpPr>
            <p:cNvPr name="TextBox 4" id="4"/>
            <p:cNvSpPr txBox="true"/>
            <p:nvPr/>
          </p:nvSpPr>
          <p:spPr>
            <a:xfrm>
              <a:off x="0" y="-9525"/>
              <a:ext cx="5021300" cy="1072590"/>
            </a:xfrm>
            <a:prstGeom prst="rect">
              <a:avLst/>
            </a:prstGeom>
          </p:spPr>
          <p:txBody>
            <a:bodyPr anchor="ctr" rtlCol="false" tIns="50800" lIns="50800" bIns="50800" rIns="50800"/>
            <a:lstStyle/>
            <a:p>
              <a:pPr algn="ctr">
                <a:lnSpc>
                  <a:spcPts val="2266"/>
                </a:lnSpc>
              </a:pPr>
            </a:p>
            <a:p>
              <a:pPr algn="ctr">
                <a:lnSpc>
                  <a:spcPts val="2266"/>
                </a:lnSpc>
              </a:pPr>
            </a:p>
          </p:txBody>
        </p:sp>
      </p:grpSp>
      <p:sp>
        <p:nvSpPr>
          <p:cNvPr name="TextBox 5" id="5"/>
          <p:cNvSpPr txBox="true"/>
          <p:nvPr/>
        </p:nvSpPr>
        <p:spPr>
          <a:xfrm rot="0">
            <a:off x="1028700" y="1019175"/>
            <a:ext cx="8115300"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11. CONCLUSION : </a:t>
            </a:r>
          </a:p>
        </p:txBody>
      </p:sp>
      <p:grpSp>
        <p:nvGrpSpPr>
          <p:cNvPr name="Group 6" id="6"/>
          <p:cNvGrpSpPr/>
          <p:nvPr/>
        </p:nvGrpSpPr>
        <p:grpSpPr>
          <a:xfrm rot="0">
            <a:off x="1066480" y="4451573"/>
            <a:ext cx="6133319" cy="1306762"/>
            <a:chOff x="0" y="0"/>
            <a:chExt cx="3814896" cy="812800"/>
          </a:xfrm>
        </p:grpSpPr>
        <p:sp>
          <p:nvSpPr>
            <p:cNvPr name="Freeform 7" id="7"/>
            <p:cNvSpPr/>
            <p:nvPr/>
          </p:nvSpPr>
          <p:spPr>
            <a:xfrm flipH="false" flipV="false" rot="0">
              <a:off x="0" y="0"/>
              <a:ext cx="3814897" cy="812800"/>
            </a:xfrm>
            <a:custGeom>
              <a:avLst/>
              <a:gdLst/>
              <a:ahLst/>
              <a:cxnLst/>
              <a:rect r="r" b="b" t="t" l="l"/>
              <a:pathLst>
                <a:path h="812800" w="3814897">
                  <a:moveTo>
                    <a:pt x="23983" y="0"/>
                  </a:moveTo>
                  <a:lnTo>
                    <a:pt x="3790914" y="0"/>
                  </a:lnTo>
                  <a:cubicBezTo>
                    <a:pt x="3804159" y="0"/>
                    <a:pt x="3814897" y="10738"/>
                    <a:pt x="3814897" y="23983"/>
                  </a:cubicBezTo>
                  <a:lnTo>
                    <a:pt x="3814897" y="788817"/>
                  </a:lnTo>
                  <a:cubicBezTo>
                    <a:pt x="3814897" y="795178"/>
                    <a:pt x="3812370" y="801278"/>
                    <a:pt x="3807872" y="805775"/>
                  </a:cubicBezTo>
                  <a:cubicBezTo>
                    <a:pt x="3803374" y="810273"/>
                    <a:pt x="3797274" y="812800"/>
                    <a:pt x="3790914" y="812800"/>
                  </a:cubicBezTo>
                  <a:lnTo>
                    <a:pt x="23983" y="812800"/>
                  </a:lnTo>
                  <a:cubicBezTo>
                    <a:pt x="17622" y="812800"/>
                    <a:pt x="11522" y="810273"/>
                    <a:pt x="7025" y="805775"/>
                  </a:cubicBezTo>
                  <a:cubicBezTo>
                    <a:pt x="2527" y="801278"/>
                    <a:pt x="0" y="795178"/>
                    <a:pt x="0" y="788817"/>
                  </a:cubicBezTo>
                  <a:lnTo>
                    <a:pt x="0" y="23983"/>
                  </a:lnTo>
                  <a:cubicBezTo>
                    <a:pt x="0" y="17622"/>
                    <a:pt x="2527" y="11522"/>
                    <a:pt x="7025" y="7025"/>
                  </a:cubicBezTo>
                  <a:cubicBezTo>
                    <a:pt x="11522" y="2527"/>
                    <a:pt x="17622" y="0"/>
                    <a:pt x="23983" y="0"/>
                  </a:cubicBezTo>
                  <a:close/>
                </a:path>
              </a:pathLst>
            </a:custGeom>
            <a:solidFill>
              <a:srgbClr val="02B676"/>
            </a:solidFill>
          </p:spPr>
        </p:sp>
        <p:sp>
          <p:nvSpPr>
            <p:cNvPr name="TextBox 8" id="8"/>
            <p:cNvSpPr txBox="true"/>
            <p:nvPr/>
          </p:nvSpPr>
          <p:spPr>
            <a:xfrm>
              <a:off x="0" y="-19050"/>
              <a:ext cx="3814896" cy="831850"/>
            </a:xfrm>
            <a:prstGeom prst="rect">
              <a:avLst/>
            </a:prstGeom>
          </p:spPr>
          <p:txBody>
            <a:bodyPr anchor="ctr" rtlCol="false" tIns="50800" lIns="50800" bIns="50800" rIns="50800"/>
            <a:lstStyle/>
            <a:p>
              <a:pPr algn="ctr">
                <a:lnSpc>
                  <a:spcPts val="3090"/>
                </a:lnSpc>
              </a:pPr>
              <a:r>
                <a:rPr lang="en-US" sz="3000" spc="213">
                  <a:solidFill>
                    <a:srgbClr val="FDF8F8"/>
                  </a:solidFill>
                  <a:latin typeface="Cheddar"/>
                  <a:ea typeface="Cheddar"/>
                  <a:cs typeface="Cheddar"/>
                  <a:sym typeface="Cheddar"/>
                </a:rPr>
                <a:t>La section Pension Livrée d’un bulletin quotidien informe sur :</a:t>
              </a:r>
            </a:p>
          </p:txBody>
        </p:sp>
      </p:grpSp>
      <p:sp>
        <p:nvSpPr>
          <p:cNvPr name="TextBox 9" id="9"/>
          <p:cNvSpPr txBox="true"/>
          <p:nvPr/>
        </p:nvSpPr>
        <p:spPr>
          <a:xfrm rot="0">
            <a:off x="1903766" y="6209808"/>
            <a:ext cx="4458749" cy="2352040"/>
          </a:xfrm>
          <a:prstGeom prst="rect">
            <a:avLst/>
          </a:prstGeom>
        </p:spPr>
        <p:txBody>
          <a:bodyPr anchor="t" rtlCol="false" tIns="0" lIns="0" bIns="0" rIns="0">
            <a:spAutoFit/>
          </a:bodyPr>
          <a:lstStyle/>
          <a:p>
            <a:pPr algn="l" marL="431802" indent="-215901" lvl="1">
              <a:lnSpc>
                <a:spcPts val="3080"/>
              </a:lnSpc>
              <a:buFont typeface="Arial"/>
              <a:buChar char="•"/>
            </a:pPr>
            <a:r>
              <a:rPr lang="en-US" sz="2000">
                <a:solidFill>
                  <a:srgbClr val="290606"/>
                </a:solidFill>
                <a:latin typeface="Telegraf"/>
                <a:ea typeface="Telegraf"/>
                <a:cs typeface="Telegraf"/>
                <a:sym typeface="Telegraf"/>
              </a:rPr>
              <a:t>Les flux journaliers (montants, titres, taux, durée),</a:t>
            </a:r>
          </a:p>
          <a:p>
            <a:pPr algn="l" marL="431802" indent="-215901" lvl="1">
              <a:lnSpc>
                <a:spcPts val="3080"/>
              </a:lnSpc>
              <a:buFont typeface="Arial"/>
              <a:buChar char="•"/>
            </a:pPr>
            <a:r>
              <a:rPr lang="en-US" sz="2000">
                <a:solidFill>
                  <a:srgbClr val="290606"/>
                </a:solidFill>
                <a:latin typeface="Telegraf"/>
                <a:ea typeface="Telegraf"/>
                <a:cs typeface="Telegraf"/>
                <a:sym typeface="Telegraf"/>
              </a:rPr>
              <a:t>Les rachats effectués,</a:t>
            </a:r>
          </a:p>
          <a:p>
            <a:pPr algn="l" marL="431802" indent="-215901" lvl="1">
              <a:lnSpc>
                <a:spcPts val="3080"/>
              </a:lnSpc>
              <a:buFont typeface="Arial"/>
              <a:buChar char="•"/>
            </a:pPr>
            <a:r>
              <a:rPr lang="en-US" sz="2000">
                <a:solidFill>
                  <a:srgbClr val="290606"/>
                </a:solidFill>
                <a:latin typeface="Telegraf"/>
                <a:ea typeface="Telegraf"/>
                <a:cs typeface="Telegraf"/>
                <a:sym typeface="Telegraf"/>
              </a:rPr>
              <a:t>Les tendances annuelles (volumes, taux, maturités).</a:t>
            </a:r>
          </a:p>
          <a:p>
            <a:pPr algn="l">
              <a:lnSpc>
                <a:spcPts val="3080"/>
              </a:lnSpc>
            </a:pPr>
          </a:p>
        </p:txBody>
      </p:sp>
      <p:sp>
        <p:nvSpPr>
          <p:cNvPr name="TextBox 10" id="10"/>
          <p:cNvSpPr txBox="true"/>
          <p:nvPr/>
        </p:nvSpPr>
        <p:spPr>
          <a:xfrm rot="0">
            <a:off x="9993799" y="6091612"/>
            <a:ext cx="5916339" cy="2742565"/>
          </a:xfrm>
          <a:prstGeom prst="rect">
            <a:avLst/>
          </a:prstGeom>
        </p:spPr>
        <p:txBody>
          <a:bodyPr anchor="t" rtlCol="false" tIns="0" lIns="0" bIns="0" rIns="0">
            <a:spAutoFit/>
          </a:bodyPr>
          <a:lstStyle/>
          <a:p>
            <a:pPr algn="l" marL="431802" indent="-215901" lvl="1">
              <a:lnSpc>
                <a:spcPts val="3080"/>
              </a:lnSpc>
              <a:buFont typeface="Arial"/>
              <a:buChar char="•"/>
            </a:pPr>
            <a:r>
              <a:rPr lang="en-US" sz="2000">
                <a:solidFill>
                  <a:srgbClr val="290606"/>
                </a:solidFill>
                <a:latin typeface="Telegraf"/>
                <a:ea typeface="Telegraf"/>
                <a:cs typeface="Telegraf"/>
                <a:sym typeface="Telegraf"/>
              </a:rPr>
              <a:t>Ajuster leur trésorerie via un instrument sécurisé.</a:t>
            </a:r>
          </a:p>
          <a:p>
            <a:pPr algn="l" marL="431802" indent="-215901" lvl="1">
              <a:lnSpc>
                <a:spcPts val="3080"/>
              </a:lnSpc>
              <a:buFont typeface="Arial"/>
              <a:buChar char="•"/>
            </a:pPr>
            <a:r>
              <a:rPr lang="en-US" sz="2000">
                <a:solidFill>
                  <a:srgbClr val="290606"/>
                </a:solidFill>
                <a:latin typeface="Telegraf"/>
                <a:ea typeface="Telegraf"/>
                <a:cs typeface="Telegraf"/>
                <a:sym typeface="Telegraf"/>
              </a:rPr>
              <a:t>Comprendre le coût du financement.</a:t>
            </a:r>
          </a:p>
          <a:p>
            <a:pPr algn="l" marL="431802" indent="-215901" lvl="1">
              <a:lnSpc>
                <a:spcPts val="3080"/>
              </a:lnSpc>
              <a:buFont typeface="Arial"/>
              <a:buChar char="•"/>
            </a:pPr>
            <a:r>
              <a:rPr lang="en-US" sz="2000">
                <a:solidFill>
                  <a:srgbClr val="290606"/>
                </a:solidFill>
                <a:latin typeface="Telegraf"/>
                <a:ea typeface="Telegraf"/>
                <a:cs typeface="Telegraf"/>
                <a:sym typeface="Telegraf"/>
              </a:rPr>
              <a:t>Suivre la dynamique du marché repo, crucial pour la régulation monétaire et la stabilité financière.</a:t>
            </a:r>
          </a:p>
          <a:p>
            <a:pPr algn="l">
              <a:lnSpc>
                <a:spcPts val="3080"/>
              </a:lnSpc>
            </a:pPr>
          </a:p>
        </p:txBody>
      </p:sp>
      <p:sp>
        <p:nvSpPr>
          <p:cNvPr name="Freeform 11" id="11"/>
          <p:cNvSpPr/>
          <p:nvPr/>
        </p:nvSpPr>
        <p:spPr>
          <a:xfrm flipH="false" flipV="false" rot="0">
            <a:off x="122952" y="0"/>
            <a:ext cx="3250652" cy="1300261"/>
          </a:xfrm>
          <a:custGeom>
            <a:avLst/>
            <a:gdLst/>
            <a:ahLst/>
            <a:cxnLst/>
            <a:rect r="r" b="b" t="t" l="l"/>
            <a:pathLst>
              <a:path h="1300261" w="3250652">
                <a:moveTo>
                  <a:pt x="0" y="0"/>
                </a:moveTo>
                <a:lnTo>
                  <a:pt x="3250652" y="0"/>
                </a:lnTo>
                <a:lnTo>
                  <a:pt x="3250652" y="1300261"/>
                </a:lnTo>
                <a:lnTo>
                  <a:pt x="0" y="1300261"/>
                </a:lnTo>
                <a:lnTo>
                  <a:pt x="0" y="0"/>
                </a:lnTo>
                <a:close/>
              </a:path>
            </a:pathLst>
          </a:custGeom>
          <a:blipFill>
            <a:blip r:embed="rId2"/>
            <a:stretch>
              <a:fillRect l="0" t="0" r="0" b="0"/>
            </a:stretch>
          </a:blipFill>
        </p:spPr>
      </p:sp>
      <p:grpSp>
        <p:nvGrpSpPr>
          <p:cNvPr name="Group 12" id="12"/>
          <p:cNvGrpSpPr/>
          <p:nvPr/>
        </p:nvGrpSpPr>
        <p:grpSpPr>
          <a:xfrm rot="0">
            <a:off x="9665356" y="4451573"/>
            <a:ext cx="6010610" cy="1306762"/>
            <a:chOff x="0" y="0"/>
            <a:chExt cx="3738572" cy="812800"/>
          </a:xfrm>
        </p:grpSpPr>
        <p:sp>
          <p:nvSpPr>
            <p:cNvPr name="Freeform 13" id="13"/>
            <p:cNvSpPr/>
            <p:nvPr/>
          </p:nvSpPr>
          <p:spPr>
            <a:xfrm flipH="false" flipV="false" rot="0">
              <a:off x="0" y="0"/>
              <a:ext cx="3738572" cy="812800"/>
            </a:xfrm>
            <a:custGeom>
              <a:avLst/>
              <a:gdLst/>
              <a:ahLst/>
              <a:cxnLst/>
              <a:rect r="r" b="b" t="t" l="l"/>
              <a:pathLst>
                <a:path h="812800" w="3738572">
                  <a:moveTo>
                    <a:pt x="24473" y="0"/>
                  </a:moveTo>
                  <a:lnTo>
                    <a:pt x="3714099" y="0"/>
                  </a:lnTo>
                  <a:cubicBezTo>
                    <a:pt x="3720590" y="0"/>
                    <a:pt x="3726815" y="2578"/>
                    <a:pt x="3731404" y="7168"/>
                  </a:cubicBezTo>
                  <a:cubicBezTo>
                    <a:pt x="3735994" y="11757"/>
                    <a:pt x="3738572" y="17982"/>
                    <a:pt x="3738572" y="24473"/>
                  </a:cubicBezTo>
                  <a:lnTo>
                    <a:pt x="3738572" y="788327"/>
                  </a:lnTo>
                  <a:cubicBezTo>
                    <a:pt x="3738572" y="794818"/>
                    <a:pt x="3735994" y="801043"/>
                    <a:pt x="3731404" y="805632"/>
                  </a:cubicBezTo>
                  <a:cubicBezTo>
                    <a:pt x="3726815" y="810222"/>
                    <a:pt x="3720590" y="812800"/>
                    <a:pt x="3714099" y="812800"/>
                  </a:cubicBezTo>
                  <a:lnTo>
                    <a:pt x="24473" y="812800"/>
                  </a:lnTo>
                  <a:cubicBezTo>
                    <a:pt x="17982" y="812800"/>
                    <a:pt x="11757" y="810222"/>
                    <a:pt x="7168" y="805632"/>
                  </a:cubicBezTo>
                  <a:cubicBezTo>
                    <a:pt x="2578" y="801043"/>
                    <a:pt x="0" y="794818"/>
                    <a:pt x="0" y="788327"/>
                  </a:cubicBezTo>
                  <a:lnTo>
                    <a:pt x="0" y="24473"/>
                  </a:lnTo>
                  <a:cubicBezTo>
                    <a:pt x="0" y="17982"/>
                    <a:pt x="2578" y="11757"/>
                    <a:pt x="7168" y="7168"/>
                  </a:cubicBezTo>
                  <a:cubicBezTo>
                    <a:pt x="11757" y="2578"/>
                    <a:pt x="17982" y="0"/>
                    <a:pt x="24473" y="0"/>
                  </a:cubicBezTo>
                  <a:close/>
                </a:path>
              </a:pathLst>
            </a:custGeom>
            <a:solidFill>
              <a:srgbClr val="02B676"/>
            </a:solidFill>
          </p:spPr>
        </p:sp>
        <p:sp>
          <p:nvSpPr>
            <p:cNvPr name="TextBox 14" id="14"/>
            <p:cNvSpPr txBox="true"/>
            <p:nvPr/>
          </p:nvSpPr>
          <p:spPr>
            <a:xfrm>
              <a:off x="0" y="-19050"/>
              <a:ext cx="3738572" cy="831850"/>
            </a:xfrm>
            <a:prstGeom prst="rect">
              <a:avLst/>
            </a:prstGeom>
          </p:spPr>
          <p:txBody>
            <a:bodyPr anchor="ctr" rtlCol="false" tIns="50800" lIns="50800" bIns="50800" rIns="50800"/>
            <a:lstStyle/>
            <a:p>
              <a:pPr algn="ctr">
                <a:lnSpc>
                  <a:spcPts val="3090"/>
                </a:lnSpc>
              </a:pPr>
              <a:r>
                <a:rPr lang="en-US" sz="3000" spc="213">
                  <a:solidFill>
                    <a:srgbClr val="FDF8F8"/>
                  </a:solidFill>
                  <a:latin typeface="Cheddar"/>
                  <a:ea typeface="Cheddar"/>
                  <a:cs typeface="Cheddar"/>
                  <a:sym typeface="Cheddar"/>
                </a:rPr>
                <a:t>Elle permet aux acteurs financiers de :</a:t>
              </a:r>
            </a:p>
          </p:txBody>
        </p:sp>
      </p:gr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EEF4F3"/>
        </a:solidFill>
      </p:bgPr>
    </p:bg>
    <p:spTree>
      <p:nvGrpSpPr>
        <p:cNvPr id="1" name=""/>
        <p:cNvGrpSpPr/>
        <p:nvPr/>
      </p:nvGrpSpPr>
      <p:grpSpPr>
        <a:xfrm>
          <a:off x="0" y="0"/>
          <a:ext cx="0" cy="0"/>
          <a:chOff x="0" y="0"/>
          <a:chExt cx="0" cy="0"/>
        </a:xfrm>
      </p:grpSpPr>
      <p:sp>
        <p:nvSpPr>
          <p:cNvPr name="Freeform 2" id="2"/>
          <p:cNvSpPr/>
          <p:nvPr/>
        </p:nvSpPr>
        <p:spPr>
          <a:xfrm flipH="false" flipV="false" rot="0">
            <a:off x="0" y="0"/>
            <a:ext cx="3250652" cy="1300261"/>
          </a:xfrm>
          <a:custGeom>
            <a:avLst/>
            <a:gdLst/>
            <a:ahLst/>
            <a:cxnLst/>
            <a:rect r="r" b="b" t="t" l="l"/>
            <a:pathLst>
              <a:path h="1300261" w="3250652">
                <a:moveTo>
                  <a:pt x="0" y="0"/>
                </a:moveTo>
                <a:lnTo>
                  <a:pt x="3250652" y="0"/>
                </a:lnTo>
                <a:lnTo>
                  <a:pt x="3250652" y="1300261"/>
                </a:lnTo>
                <a:lnTo>
                  <a:pt x="0" y="1300261"/>
                </a:lnTo>
                <a:lnTo>
                  <a:pt x="0" y="0"/>
                </a:lnTo>
                <a:close/>
              </a:path>
            </a:pathLst>
          </a:custGeom>
          <a:blipFill>
            <a:blip r:embed="rId2"/>
            <a:stretch>
              <a:fillRect l="0" t="0" r="0" b="0"/>
            </a:stretch>
          </a:blipFill>
        </p:spPr>
      </p:sp>
      <p:sp>
        <p:nvSpPr>
          <p:cNvPr name="TextBox 3" id="3"/>
          <p:cNvSpPr txBox="true"/>
          <p:nvPr/>
        </p:nvSpPr>
        <p:spPr>
          <a:xfrm rot="0">
            <a:off x="520944" y="3902838"/>
            <a:ext cx="11121673" cy="1073150"/>
          </a:xfrm>
          <a:prstGeom prst="rect">
            <a:avLst/>
          </a:prstGeom>
        </p:spPr>
        <p:txBody>
          <a:bodyPr anchor="t" rtlCol="false" tIns="0" lIns="0" bIns="0" rIns="0">
            <a:spAutoFit/>
          </a:bodyPr>
          <a:lstStyle/>
          <a:p>
            <a:pPr algn="l">
              <a:lnSpc>
                <a:spcPts val="6999"/>
              </a:lnSpc>
            </a:pPr>
            <a:r>
              <a:rPr lang="en-US" sz="6999" spc="342">
                <a:solidFill>
                  <a:srgbClr val="290606"/>
                </a:solidFill>
                <a:latin typeface="Cheddar"/>
                <a:ea typeface="Cheddar"/>
                <a:cs typeface="Cheddar"/>
                <a:sym typeface="Cheddar"/>
              </a:rPr>
              <a:t>MERCI POUR VOTRE ATTENTION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DAGsGjOyFrw</dc:identifier>
  <dcterms:modified xsi:type="dcterms:W3CDTF">2011-08-01T06:04:30Z</dcterms:modified>
  <cp:revision>1</cp:revision>
  <dc:title>Green and Orange Vibrant Animated AI and Machine Learning Presentation</dc:title>
</cp:coreProperties>
</file>